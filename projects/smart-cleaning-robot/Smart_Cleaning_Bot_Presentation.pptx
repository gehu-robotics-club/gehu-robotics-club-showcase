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8229600" cx="14630400"/>
  <p:notesSz cx="8229600" cy="14630400"/>
  <p:embeddedFontLst>
    <p:embeddedFont>
      <p:font typeface="Inter"/>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Inter-regular.fntdata"/><Relationship Id="rId14" Type="http://schemas.openxmlformats.org/officeDocument/2006/relationships/slide" Target="slides/slide10.xml"/><Relationship Id="rId17" Type="http://schemas.openxmlformats.org/officeDocument/2006/relationships/font" Target="fonts/Inter-italic.fntdata"/><Relationship Id="rId16" Type="http://schemas.openxmlformats.org/officeDocument/2006/relationships/font" Target="fonts/Inter-bold.fntdata"/><Relationship Id="rId5" Type="http://schemas.openxmlformats.org/officeDocument/2006/relationships/slide" Target="slides/slide1.xml"/><Relationship Id="rId6" Type="http://schemas.openxmlformats.org/officeDocument/2006/relationships/slide" Target="slides/slide2.xml"/><Relationship Id="rId18" Type="http://schemas.openxmlformats.org/officeDocument/2006/relationships/font" Target="fonts/Inter-boldItalic.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 name="Google Shape;4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 name="Google Shape;4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 name="Google Shape;5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 name="Google Shape;5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 name="Google Shape;6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 name="Google Shape;6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 name="Google Shape;8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 name="Google Shape;8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 name="Google Shape;19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bg>
      <p:bgPr>
        <a:solidFill>
          <a:srgbClr val="000000"/>
        </a:solidFill>
      </p:bgPr>
    </p:bg>
    <p:spTree>
      <p:nvGrpSpPr>
        <p:cNvPr id="10" name="Shape 10"/>
        <p:cNvGrpSpPr/>
        <p:nvPr/>
      </p:nvGrpSpPr>
      <p:grpSpPr>
        <a:xfrm>
          <a:off x="0" y="0"/>
          <a:ext cx="0" cy="0"/>
          <a:chOff x="0" y="0"/>
          <a:chExt cx="0" cy="0"/>
        </a:xfrm>
      </p:grpSpPr>
      <p:sp>
        <p:nvSpPr>
          <p:cNvPr id="11" name="Google Shape;11;p2"/>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bg>
      <p:bgPr>
        <a:solidFill>
          <a:srgbClr val="000000"/>
        </a:solidFill>
      </p:bgPr>
    </p:bg>
    <p:spTree>
      <p:nvGrpSpPr>
        <p:cNvPr id="13" name="Shape 13"/>
        <p:cNvGrpSpPr/>
        <p:nvPr/>
      </p:nvGrpSpPr>
      <p:grpSpPr>
        <a:xfrm>
          <a:off x="0" y="0"/>
          <a:ext cx="0" cy="0"/>
          <a:chOff x="0" y="0"/>
          <a:chExt cx="0" cy="0"/>
        </a:xfrm>
      </p:grpSpPr>
      <p:sp>
        <p:nvSpPr>
          <p:cNvPr id="14" name="Google Shape;14;p3"/>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3"/>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bg>
      <p:bgPr>
        <a:solidFill>
          <a:srgbClr val="000000"/>
        </a:solidFill>
      </p:bgPr>
    </p:bg>
    <p:spTree>
      <p:nvGrpSpPr>
        <p:cNvPr id="16" name="Shape 16"/>
        <p:cNvGrpSpPr/>
        <p:nvPr/>
      </p:nvGrpSpPr>
      <p:grpSpPr>
        <a:xfrm>
          <a:off x="0" y="0"/>
          <a:ext cx="0" cy="0"/>
          <a:chOff x="0" y="0"/>
          <a:chExt cx="0" cy="0"/>
        </a:xfrm>
      </p:grpSpPr>
      <p:sp>
        <p:nvSpPr>
          <p:cNvPr id="17" name="Google Shape;17;p4"/>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4"/>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bg>
      <p:bgPr>
        <a:solidFill>
          <a:srgbClr val="000000"/>
        </a:solidFill>
      </p:bgPr>
    </p:bg>
    <p:spTree>
      <p:nvGrpSpPr>
        <p:cNvPr id="19" name="Shape 19"/>
        <p:cNvGrpSpPr/>
        <p:nvPr/>
      </p:nvGrpSpPr>
      <p:grpSpPr>
        <a:xfrm>
          <a:off x="0" y="0"/>
          <a:ext cx="0" cy="0"/>
          <a:chOff x="0" y="0"/>
          <a:chExt cx="0" cy="0"/>
        </a:xfrm>
      </p:grpSpPr>
      <p:sp>
        <p:nvSpPr>
          <p:cNvPr id="20" name="Google Shape;20;p5"/>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5"/>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bg>
      <p:bgPr>
        <a:solidFill>
          <a:srgbClr val="000000"/>
        </a:solidFill>
      </p:bgPr>
    </p:bg>
    <p:spTree>
      <p:nvGrpSpPr>
        <p:cNvPr id="22" name="Shape 22"/>
        <p:cNvGrpSpPr/>
        <p:nvPr/>
      </p:nvGrpSpPr>
      <p:grpSpPr>
        <a:xfrm>
          <a:off x="0" y="0"/>
          <a:ext cx="0" cy="0"/>
          <a:chOff x="0" y="0"/>
          <a:chExt cx="0" cy="0"/>
        </a:xfrm>
      </p:grpSpPr>
      <p:sp>
        <p:nvSpPr>
          <p:cNvPr id="23" name="Google Shape;23;p6"/>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6"/>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bg>
      <p:bgPr>
        <a:solidFill>
          <a:srgbClr val="000000"/>
        </a:solidFill>
      </p:bgPr>
    </p:bg>
    <p:spTree>
      <p:nvGrpSpPr>
        <p:cNvPr id="25" name="Shape 25"/>
        <p:cNvGrpSpPr/>
        <p:nvPr/>
      </p:nvGrpSpPr>
      <p:grpSpPr>
        <a:xfrm>
          <a:off x="0" y="0"/>
          <a:ext cx="0" cy="0"/>
          <a:chOff x="0" y="0"/>
          <a:chExt cx="0" cy="0"/>
        </a:xfrm>
      </p:grpSpPr>
      <p:sp>
        <p:nvSpPr>
          <p:cNvPr id="26" name="Google Shape;26;p7"/>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7"/>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bg>
      <p:bgPr>
        <a:solidFill>
          <a:srgbClr val="000000"/>
        </a:solidFill>
      </p:bgPr>
    </p:bg>
    <p:spTree>
      <p:nvGrpSpPr>
        <p:cNvPr id="28" name="Shape 28"/>
        <p:cNvGrpSpPr/>
        <p:nvPr/>
      </p:nvGrpSpPr>
      <p:grpSpPr>
        <a:xfrm>
          <a:off x="0" y="0"/>
          <a:ext cx="0" cy="0"/>
          <a:chOff x="0" y="0"/>
          <a:chExt cx="0" cy="0"/>
        </a:xfrm>
      </p:grpSpPr>
      <p:sp>
        <p:nvSpPr>
          <p:cNvPr id="29" name="Google Shape;29;p8"/>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8"/>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bg>
      <p:bgPr>
        <a:solidFill>
          <a:srgbClr val="000000"/>
        </a:solidFill>
      </p:bgPr>
    </p:bg>
    <p:spTree>
      <p:nvGrpSpPr>
        <p:cNvPr id="31" name="Shape 31"/>
        <p:cNvGrpSpPr/>
        <p:nvPr/>
      </p:nvGrpSpPr>
      <p:grpSpPr>
        <a:xfrm>
          <a:off x="0" y="0"/>
          <a:ext cx="0" cy="0"/>
          <a:chOff x="0" y="0"/>
          <a:chExt cx="0" cy="0"/>
        </a:xfrm>
      </p:grpSpPr>
      <p:sp>
        <p:nvSpPr>
          <p:cNvPr id="32" name="Google Shape;32;p9"/>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9"/>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bg>
      <p:bgPr>
        <a:solidFill>
          <a:srgbClr val="000000"/>
        </a:solidFill>
      </p:bgPr>
    </p:bg>
    <p:spTree>
      <p:nvGrpSpPr>
        <p:cNvPr id="34" name="Shape 34"/>
        <p:cNvGrpSpPr/>
        <p:nvPr/>
      </p:nvGrpSpPr>
      <p:grpSpPr>
        <a:xfrm>
          <a:off x="0" y="0"/>
          <a:ext cx="0" cy="0"/>
          <a:chOff x="0" y="0"/>
          <a:chExt cx="0" cy="0"/>
        </a:xfrm>
      </p:grpSpPr>
      <p:sp>
        <p:nvSpPr>
          <p:cNvPr id="35" name="Google Shape;35;p10"/>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10"/>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bg>
      <p:bgPr>
        <a:solidFill>
          <a:srgbClr val="000000"/>
        </a:solidFill>
      </p:bgPr>
    </p:bg>
    <p:spTree>
      <p:nvGrpSpPr>
        <p:cNvPr id="37" name="Shape 37"/>
        <p:cNvGrpSpPr/>
        <p:nvPr/>
      </p:nvGrpSpPr>
      <p:grpSpPr>
        <a:xfrm>
          <a:off x="0" y="0"/>
          <a:ext cx="0" cy="0"/>
          <a:chOff x="0" y="0"/>
          <a:chExt cx="0" cy="0"/>
        </a:xfrm>
      </p:grpSpPr>
      <p:sp>
        <p:nvSpPr>
          <p:cNvPr id="38" name="Google Shape;38;p11"/>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11"/>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40" name="Shape 4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9.png"/><Relationship Id="rId4" Type="http://schemas.openxmlformats.org/officeDocument/2006/relationships/image" Target="../media/image13.png"/><Relationship Id="rId5"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8.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2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2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8.png"/><Relationship Id="rId5" Type="http://schemas.openxmlformats.org/officeDocument/2006/relationships/image" Target="../media/image12.png"/><Relationship Id="rId6" Type="http://schemas.openxmlformats.org/officeDocument/2006/relationships/image" Target="../media/image10.png"/><Relationship Id="rId7" Type="http://schemas.openxmlformats.org/officeDocument/2006/relationships/image" Target="../media/image7.png"/><Relationship Id="rId8"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22.png"/><Relationship Id="rId4" Type="http://schemas.openxmlformats.org/officeDocument/2006/relationships/image" Target="../media/image6.png"/><Relationship Id="rId5" Type="http://schemas.openxmlformats.org/officeDocument/2006/relationships/image" Target="../media/image20.png"/><Relationship Id="rId6" Type="http://schemas.openxmlformats.org/officeDocument/2006/relationships/image" Target="../media/image4.png"/><Relationship Id="rId7" Type="http://schemas.openxmlformats.org/officeDocument/2006/relationships/image" Target="../media/image17.png"/><Relationship Id="rId8"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pic>
        <p:nvPicPr>
          <p:cNvPr descr="preencoded.png" id="46" name="Google Shape;46;p13"/>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47" name="Google Shape;47;p13"/>
          <p:cNvSpPr/>
          <p:nvPr/>
        </p:nvSpPr>
        <p:spPr>
          <a:xfrm>
            <a:off x="6280190" y="2174915"/>
            <a:ext cx="4961811" cy="620078"/>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000000"/>
              </a:buClr>
              <a:buSzPts val="3900"/>
              <a:buFont typeface="Inter"/>
              <a:buNone/>
            </a:pPr>
            <a:r>
              <a:rPr b="1" i="0" lang="en-US" sz="3900" u="none" cap="none" strike="noStrike">
                <a:solidFill>
                  <a:srgbClr val="000000"/>
                </a:solidFill>
                <a:latin typeface="Inter"/>
                <a:ea typeface="Inter"/>
                <a:cs typeface="Inter"/>
                <a:sym typeface="Inter"/>
              </a:rPr>
              <a:t>NightClean</a:t>
            </a:r>
            <a:endParaRPr b="0" i="0" sz="3900" u="none" cap="none" strike="noStrike"/>
          </a:p>
        </p:txBody>
      </p:sp>
      <p:sp>
        <p:nvSpPr>
          <p:cNvPr id="48" name="Google Shape;48;p13"/>
          <p:cNvSpPr/>
          <p:nvPr/>
        </p:nvSpPr>
        <p:spPr>
          <a:xfrm>
            <a:off x="6280190" y="3092648"/>
            <a:ext cx="7556421" cy="1711642"/>
          </a:xfrm>
          <a:prstGeom prst="rect">
            <a:avLst/>
          </a:prstGeom>
          <a:noFill/>
          <a:ln>
            <a:noFill/>
          </a:ln>
        </p:spPr>
        <p:txBody>
          <a:bodyPr anchorCtr="0" anchor="t" bIns="0" lIns="0" spcFirstLastPara="1" rIns="0" wrap="square" tIns="0">
            <a:noAutofit/>
          </a:bodyPr>
          <a:lstStyle/>
          <a:p>
            <a:pPr indent="0" lvl="0" marL="0" marR="0" rtl="0" algn="l">
              <a:lnSpc>
                <a:spcPct val="125233"/>
              </a:lnSpc>
              <a:spcBef>
                <a:spcPts val="0"/>
              </a:spcBef>
              <a:spcAft>
                <a:spcPts val="0"/>
              </a:spcAft>
              <a:buClr>
                <a:srgbClr val="000000"/>
              </a:buClr>
              <a:buSzPts val="5350"/>
              <a:buFont typeface="Inter"/>
              <a:buNone/>
            </a:pPr>
            <a:r>
              <a:rPr b="1" i="0" lang="en-US" sz="5350" u="none" cap="none" strike="noStrike">
                <a:solidFill>
                  <a:srgbClr val="000000"/>
                </a:solidFill>
                <a:latin typeface="Inter"/>
                <a:ea typeface="Inter"/>
                <a:cs typeface="Inter"/>
                <a:sym typeface="Inter"/>
              </a:rPr>
              <a:t>Smart Cities Deserve Smart Cleaning</a:t>
            </a:r>
            <a:endParaRPr b="0" i="0" sz="5350" u="none" cap="none" strike="noStrike"/>
          </a:p>
        </p:txBody>
      </p:sp>
      <p:sp>
        <p:nvSpPr>
          <p:cNvPr id="49" name="Google Shape;49;p13"/>
          <p:cNvSpPr/>
          <p:nvPr/>
        </p:nvSpPr>
        <p:spPr>
          <a:xfrm>
            <a:off x="6280200" y="5101951"/>
            <a:ext cx="7556400" cy="11232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72525"/>
              </a:buClr>
              <a:buSzPts val="1550"/>
              <a:buFont typeface="Inter"/>
              <a:buNone/>
            </a:pPr>
            <a:r>
              <a:rPr b="0" i="0" lang="en-US" sz="1550" u="none" cap="none" strike="noStrike">
                <a:solidFill>
                  <a:srgbClr val="272525"/>
                </a:solidFill>
                <a:latin typeface="Inter"/>
                <a:ea typeface="Inter"/>
                <a:cs typeface="Inter"/>
                <a:sym typeface="Inter"/>
              </a:rPr>
              <a:t>An AI-powered autonomous garbage-cleaning system that operates during night hours to keep cities spotless by morning. Combining computer vision, robotics, and citizen engagement for next-generation urban waste management.</a:t>
            </a:r>
            <a:endParaRPr b="0" i="0" sz="1550" u="none" cap="none" strike="noStrike"/>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4"/>
          <p:cNvSpPr/>
          <p:nvPr/>
        </p:nvSpPr>
        <p:spPr>
          <a:xfrm>
            <a:off x="793790" y="1532096"/>
            <a:ext cx="5695950" cy="620078"/>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000000"/>
              </a:buClr>
              <a:buSzPts val="3900"/>
              <a:buFont typeface="Inter"/>
              <a:buNone/>
            </a:pPr>
            <a:r>
              <a:rPr b="1" i="0" lang="en-US" sz="3900" u="none" cap="none" strike="noStrike">
                <a:solidFill>
                  <a:srgbClr val="000000"/>
                </a:solidFill>
                <a:latin typeface="Inter"/>
                <a:ea typeface="Inter"/>
                <a:cs typeface="Inter"/>
                <a:sym typeface="Inter"/>
              </a:rPr>
              <a:t>The Urban Waste Crisis</a:t>
            </a:r>
            <a:endParaRPr b="0" i="0" sz="3900" u="none" cap="none" strike="noStrike"/>
          </a:p>
        </p:txBody>
      </p:sp>
      <p:pic>
        <p:nvPicPr>
          <p:cNvPr descr="preencoded.png" id="56" name="Google Shape;56;p14"/>
          <p:cNvPicPr preferRelativeResize="0"/>
          <p:nvPr/>
        </p:nvPicPr>
        <p:blipFill rotWithShape="1">
          <a:blip r:embed="rId3">
            <a:alphaModFix/>
          </a:blip>
          <a:srcRect b="0" l="0" r="0" t="0"/>
          <a:stretch/>
        </p:blipFill>
        <p:spPr>
          <a:xfrm>
            <a:off x="461850" y="2788700"/>
            <a:ext cx="6823301" cy="4130325"/>
          </a:xfrm>
          <a:prstGeom prst="rect">
            <a:avLst/>
          </a:prstGeom>
          <a:noFill/>
          <a:ln>
            <a:noFill/>
          </a:ln>
        </p:spPr>
      </p:pic>
      <p:sp>
        <p:nvSpPr>
          <p:cNvPr id="57" name="Google Shape;57;p14"/>
          <p:cNvSpPr/>
          <p:nvPr/>
        </p:nvSpPr>
        <p:spPr>
          <a:xfrm>
            <a:off x="7564874" y="2648188"/>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000000"/>
              </a:buClr>
              <a:buSzPts val="1950"/>
              <a:buFont typeface="Inter"/>
              <a:buNone/>
            </a:pPr>
            <a:r>
              <a:rPr b="1" i="0" lang="en-US" sz="1950" u="none" cap="none" strike="noStrike">
                <a:solidFill>
                  <a:srgbClr val="000000"/>
                </a:solidFill>
                <a:latin typeface="Inter"/>
                <a:ea typeface="Inter"/>
                <a:cs typeface="Inter"/>
                <a:sym typeface="Inter"/>
              </a:rPr>
              <a:t>The Problem</a:t>
            </a:r>
            <a:endParaRPr b="0" i="0" sz="1950" u="none" cap="none" strike="noStrike"/>
          </a:p>
        </p:txBody>
      </p:sp>
      <p:sp>
        <p:nvSpPr>
          <p:cNvPr id="58" name="Google Shape;58;p14"/>
          <p:cNvSpPr/>
          <p:nvPr/>
        </p:nvSpPr>
        <p:spPr>
          <a:xfrm>
            <a:off x="7564874" y="3156704"/>
            <a:ext cx="6279356" cy="1905238"/>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72525"/>
              </a:buClr>
              <a:buSzPts val="1550"/>
              <a:buFont typeface="Inter"/>
              <a:buNone/>
            </a:pPr>
            <a:r>
              <a:rPr b="0" i="0" lang="en-US" sz="1550" u="none" cap="none" strike="noStrike">
                <a:solidFill>
                  <a:srgbClr val="272525"/>
                </a:solidFill>
                <a:latin typeface="Inter"/>
                <a:ea typeface="Inter"/>
                <a:cs typeface="Inter"/>
                <a:sym typeface="Inter"/>
              </a:rPr>
              <a:t>Cities worldwide face mounting challenges with street waste management. Manual cleaning crews struggle to keep up with daily waste generation, while daytime operations create traffic congestion and road safety concerns. Without systematic monitoring and reporting mechanisms, municipalities lack visibility into problem areas.</a:t>
            </a:r>
            <a:endParaRPr b="0" i="0" sz="1550" u="none" cap="none" strike="noStrike"/>
          </a:p>
        </p:txBody>
      </p:sp>
      <p:sp>
        <p:nvSpPr>
          <p:cNvPr id="59" name="Google Shape;59;p14"/>
          <p:cNvSpPr/>
          <p:nvPr/>
        </p:nvSpPr>
        <p:spPr>
          <a:xfrm>
            <a:off x="7564875" y="5512100"/>
            <a:ext cx="6279300" cy="16338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72525"/>
              </a:buClr>
              <a:buSzPts val="1550"/>
              <a:buFont typeface="Inter"/>
              <a:buNone/>
            </a:pPr>
            <a:r>
              <a:rPr b="0" i="0" lang="en-US" sz="1550" u="none" cap="none" strike="noStrike">
                <a:solidFill>
                  <a:srgbClr val="272525"/>
                </a:solidFill>
                <a:latin typeface="Inter"/>
                <a:ea typeface="Inter"/>
                <a:cs typeface="Inter"/>
                <a:sym typeface="Inter"/>
              </a:rPr>
              <a:t>Current waste collection systems are reactive rather than proactive, responding to complaints rather than preventing accumulation. This results in persistent dirty spots, public health hazards, and frustrated citizens.</a:t>
            </a:r>
            <a:endParaRPr b="0" i="0" sz="1550" u="none" cap="none" strike="noStrike"/>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p:nvPr/>
        </p:nvSpPr>
        <p:spPr>
          <a:xfrm>
            <a:off x="793790" y="1883450"/>
            <a:ext cx="5495092" cy="620078"/>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000000"/>
              </a:buClr>
              <a:buSzPts val="3900"/>
              <a:buFont typeface="Inter"/>
              <a:buNone/>
            </a:pPr>
            <a:r>
              <a:rPr b="1" i="0" lang="en-US" sz="3900" u="none" cap="none" strike="noStrike">
                <a:solidFill>
                  <a:srgbClr val="000000"/>
                </a:solidFill>
                <a:latin typeface="Inter"/>
                <a:ea typeface="Inter"/>
                <a:cs typeface="Inter"/>
                <a:sym typeface="Inter"/>
              </a:rPr>
              <a:t>Why This Matters Now</a:t>
            </a:r>
            <a:endParaRPr b="0" i="0" sz="3900" u="none" cap="none" strike="noStrike"/>
          </a:p>
        </p:txBody>
      </p:sp>
      <p:sp>
        <p:nvSpPr>
          <p:cNvPr id="66" name="Google Shape;66;p15"/>
          <p:cNvSpPr/>
          <p:nvPr/>
        </p:nvSpPr>
        <p:spPr>
          <a:xfrm>
            <a:off x="793790" y="2900363"/>
            <a:ext cx="4215289" cy="2587466"/>
          </a:xfrm>
          <a:prstGeom prst="roundRect">
            <a:avLst>
              <a:gd fmla="val 3222" name="adj"/>
            </a:avLst>
          </a:prstGeom>
          <a:solidFill>
            <a:srgbClr val="DADBF1"/>
          </a:solidFill>
          <a:ln cap="flat" cmpd="sng" w="952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5"/>
          <p:cNvSpPr/>
          <p:nvPr/>
        </p:nvSpPr>
        <p:spPr>
          <a:xfrm>
            <a:off x="999768" y="3106341"/>
            <a:ext cx="595313" cy="595313"/>
          </a:xfrm>
          <a:prstGeom prst="roundRect">
            <a:avLst>
              <a:gd fmla="val 15358451" name="adj"/>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8" name="Google Shape;68;p15"/>
          <p:cNvPicPr preferRelativeResize="0"/>
          <p:nvPr/>
        </p:nvPicPr>
        <p:blipFill rotWithShape="1">
          <a:blip r:embed="rId3">
            <a:alphaModFix/>
          </a:blip>
          <a:srcRect b="0" l="0" r="0" t="0"/>
          <a:stretch/>
        </p:blipFill>
        <p:spPr>
          <a:xfrm>
            <a:off x="1163479" y="3269933"/>
            <a:ext cx="267891" cy="267891"/>
          </a:xfrm>
          <a:prstGeom prst="rect">
            <a:avLst/>
          </a:prstGeom>
          <a:noFill/>
          <a:ln>
            <a:noFill/>
          </a:ln>
        </p:spPr>
      </p:pic>
      <p:sp>
        <p:nvSpPr>
          <p:cNvPr id="69" name="Google Shape;69;p15"/>
          <p:cNvSpPr/>
          <p:nvPr/>
        </p:nvSpPr>
        <p:spPr>
          <a:xfrm>
            <a:off x="999768" y="3900011"/>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272525"/>
              </a:buClr>
              <a:buSzPts val="1950"/>
              <a:buFont typeface="Inter"/>
              <a:buNone/>
            </a:pPr>
            <a:r>
              <a:rPr b="1" i="0" lang="en-US" sz="1950" u="none" cap="none" strike="noStrike">
                <a:solidFill>
                  <a:srgbClr val="272525"/>
                </a:solidFill>
                <a:latin typeface="Inter"/>
                <a:ea typeface="Inter"/>
                <a:cs typeface="Inter"/>
                <a:sym typeface="Inter"/>
              </a:rPr>
              <a:t>Public Health</a:t>
            </a:r>
            <a:endParaRPr b="0" i="0" sz="1950" u="none" cap="none" strike="noStrike"/>
          </a:p>
        </p:txBody>
      </p:sp>
      <p:sp>
        <p:nvSpPr>
          <p:cNvPr id="70" name="Google Shape;70;p15"/>
          <p:cNvSpPr/>
          <p:nvPr/>
        </p:nvSpPr>
        <p:spPr>
          <a:xfrm>
            <a:off x="999768" y="4329232"/>
            <a:ext cx="3803333" cy="95261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72525"/>
              </a:buClr>
              <a:buSzPts val="1550"/>
              <a:buFont typeface="Inter"/>
              <a:buNone/>
            </a:pPr>
            <a:r>
              <a:rPr b="0" i="0" lang="en-US" sz="1550" u="none" cap="none" strike="noStrike">
                <a:solidFill>
                  <a:srgbClr val="272525"/>
                </a:solidFill>
                <a:latin typeface="Inter"/>
                <a:ea typeface="Inter"/>
                <a:cs typeface="Inter"/>
                <a:sym typeface="Inter"/>
              </a:rPr>
              <a:t>Accumulated waste harbors bacteria, attracts pests, and creates air pollution through decomposition</a:t>
            </a:r>
            <a:endParaRPr b="0" i="0" sz="1550" u="none" cap="none" strike="noStrike"/>
          </a:p>
        </p:txBody>
      </p:sp>
      <p:sp>
        <p:nvSpPr>
          <p:cNvPr id="71" name="Google Shape;71;p15"/>
          <p:cNvSpPr/>
          <p:nvPr/>
        </p:nvSpPr>
        <p:spPr>
          <a:xfrm>
            <a:off x="5207437" y="2900363"/>
            <a:ext cx="4215408" cy="2587466"/>
          </a:xfrm>
          <a:prstGeom prst="roundRect">
            <a:avLst>
              <a:gd fmla="val 3222" name="adj"/>
            </a:avLst>
          </a:prstGeom>
          <a:solidFill>
            <a:srgbClr val="DADBF1"/>
          </a:solidFill>
          <a:ln cap="flat" cmpd="sng" w="952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5"/>
          <p:cNvSpPr/>
          <p:nvPr/>
        </p:nvSpPr>
        <p:spPr>
          <a:xfrm>
            <a:off x="5413415" y="3106341"/>
            <a:ext cx="595313" cy="595313"/>
          </a:xfrm>
          <a:prstGeom prst="roundRect">
            <a:avLst>
              <a:gd fmla="val 15358451" name="adj"/>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3" name="Google Shape;73;p15"/>
          <p:cNvPicPr preferRelativeResize="0"/>
          <p:nvPr/>
        </p:nvPicPr>
        <p:blipFill rotWithShape="1">
          <a:blip r:embed="rId4">
            <a:alphaModFix/>
          </a:blip>
          <a:srcRect b="0" l="0" r="0" t="0"/>
          <a:stretch/>
        </p:blipFill>
        <p:spPr>
          <a:xfrm>
            <a:off x="5577126" y="3269933"/>
            <a:ext cx="267891" cy="267891"/>
          </a:xfrm>
          <a:prstGeom prst="rect">
            <a:avLst/>
          </a:prstGeom>
          <a:noFill/>
          <a:ln>
            <a:noFill/>
          </a:ln>
        </p:spPr>
      </p:pic>
      <p:sp>
        <p:nvSpPr>
          <p:cNvPr id="74" name="Google Shape;74;p15"/>
          <p:cNvSpPr/>
          <p:nvPr/>
        </p:nvSpPr>
        <p:spPr>
          <a:xfrm>
            <a:off x="5413415" y="3900011"/>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272525"/>
              </a:buClr>
              <a:buSzPts val="1950"/>
              <a:buFont typeface="Inter"/>
              <a:buNone/>
            </a:pPr>
            <a:r>
              <a:rPr b="1" i="0" lang="en-US" sz="1950" u="none" cap="none" strike="noStrike">
                <a:solidFill>
                  <a:srgbClr val="272525"/>
                </a:solidFill>
                <a:latin typeface="Inter"/>
                <a:ea typeface="Inter"/>
                <a:cs typeface="Inter"/>
                <a:sym typeface="Inter"/>
              </a:rPr>
              <a:t>Urban Environment</a:t>
            </a:r>
            <a:endParaRPr b="0" i="0" sz="1950" u="none" cap="none" strike="noStrike"/>
          </a:p>
        </p:txBody>
      </p:sp>
      <p:sp>
        <p:nvSpPr>
          <p:cNvPr id="75" name="Google Shape;75;p15"/>
          <p:cNvSpPr/>
          <p:nvPr/>
        </p:nvSpPr>
        <p:spPr>
          <a:xfrm>
            <a:off x="5413415" y="4329232"/>
            <a:ext cx="3803452" cy="95261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72525"/>
              </a:buClr>
              <a:buSzPts val="1550"/>
              <a:buFont typeface="Inter"/>
              <a:buNone/>
            </a:pPr>
            <a:r>
              <a:rPr b="0" i="0" lang="en-US" sz="1550" u="none" cap="none" strike="noStrike">
                <a:solidFill>
                  <a:srgbClr val="272525"/>
                </a:solidFill>
                <a:latin typeface="Inter"/>
                <a:ea typeface="Inter"/>
                <a:cs typeface="Inter"/>
                <a:sym typeface="Inter"/>
              </a:rPr>
              <a:t>Litter in streets washes into drains during rain, causing blockages and water contamination</a:t>
            </a:r>
            <a:endParaRPr b="0" i="0" sz="1550" u="none" cap="none" strike="noStrike"/>
          </a:p>
        </p:txBody>
      </p:sp>
      <p:sp>
        <p:nvSpPr>
          <p:cNvPr id="76" name="Google Shape;76;p15"/>
          <p:cNvSpPr/>
          <p:nvPr/>
        </p:nvSpPr>
        <p:spPr>
          <a:xfrm>
            <a:off x="9621203" y="2900363"/>
            <a:ext cx="4215289" cy="2587466"/>
          </a:xfrm>
          <a:prstGeom prst="roundRect">
            <a:avLst>
              <a:gd fmla="val 3222" name="adj"/>
            </a:avLst>
          </a:prstGeom>
          <a:solidFill>
            <a:srgbClr val="DADBF1"/>
          </a:solidFill>
          <a:ln cap="flat" cmpd="sng" w="952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5"/>
          <p:cNvSpPr/>
          <p:nvPr/>
        </p:nvSpPr>
        <p:spPr>
          <a:xfrm>
            <a:off x="9827181" y="3106341"/>
            <a:ext cx="595313" cy="595313"/>
          </a:xfrm>
          <a:prstGeom prst="roundRect">
            <a:avLst>
              <a:gd fmla="val 15358451" name="adj"/>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8" name="Google Shape;78;p15"/>
          <p:cNvPicPr preferRelativeResize="0"/>
          <p:nvPr/>
        </p:nvPicPr>
        <p:blipFill rotWithShape="1">
          <a:blip r:embed="rId5">
            <a:alphaModFix/>
          </a:blip>
          <a:srcRect b="0" l="0" r="0" t="0"/>
          <a:stretch/>
        </p:blipFill>
        <p:spPr>
          <a:xfrm>
            <a:off x="9990892" y="3269933"/>
            <a:ext cx="267891" cy="267891"/>
          </a:xfrm>
          <a:prstGeom prst="rect">
            <a:avLst/>
          </a:prstGeom>
          <a:noFill/>
          <a:ln>
            <a:noFill/>
          </a:ln>
        </p:spPr>
      </p:pic>
      <p:sp>
        <p:nvSpPr>
          <p:cNvPr id="79" name="Google Shape;79;p15"/>
          <p:cNvSpPr/>
          <p:nvPr/>
        </p:nvSpPr>
        <p:spPr>
          <a:xfrm>
            <a:off x="9827181" y="3900011"/>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272525"/>
              </a:buClr>
              <a:buSzPts val="1950"/>
              <a:buFont typeface="Inter"/>
              <a:buNone/>
            </a:pPr>
            <a:r>
              <a:rPr b="1" i="0" lang="en-US" sz="1950" u="none" cap="none" strike="noStrike">
                <a:solidFill>
                  <a:srgbClr val="272525"/>
                </a:solidFill>
                <a:latin typeface="Inter"/>
                <a:ea typeface="Inter"/>
                <a:cs typeface="Inter"/>
                <a:sym typeface="Inter"/>
              </a:rPr>
              <a:t>Smart City Vision</a:t>
            </a:r>
            <a:endParaRPr b="0" i="0" sz="1950" u="none" cap="none" strike="noStrike"/>
          </a:p>
        </p:txBody>
      </p:sp>
      <p:sp>
        <p:nvSpPr>
          <p:cNvPr id="80" name="Google Shape;80;p15"/>
          <p:cNvSpPr/>
          <p:nvPr/>
        </p:nvSpPr>
        <p:spPr>
          <a:xfrm>
            <a:off x="9827181" y="4329232"/>
            <a:ext cx="3803333" cy="95261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72525"/>
              </a:buClr>
              <a:buSzPts val="1550"/>
              <a:buFont typeface="Inter"/>
              <a:buNone/>
            </a:pPr>
            <a:r>
              <a:rPr b="0" i="0" lang="en-US" sz="1550" u="none" cap="none" strike="noStrike">
                <a:solidFill>
                  <a:srgbClr val="272525"/>
                </a:solidFill>
                <a:latin typeface="Inter"/>
                <a:ea typeface="Inter"/>
                <a:cs typeface="Inter"/>
                <a:sym typeface="Inter"/>
              </a:rPr>
              <a:t>Modern cities need intelligent, automated systems to handle infrastructure maintenance efficiently</a:t>
            </a:r>
            <a:endParaRPr b="0" i="0" sz="1550" u="none" cap="none" strike="noStrike"/>
          </a:p>
        </p:txBody>
      </p:sp>
      <p:sp>
        <p:nvSpPr>
          <p:cNvPr id="81" name="Google Shape;81;p15"/>
          <p:cNvSpPr/>
          <p:nvPr/>
        </p:nvSpPr>
        <p:spPr>
          <a:xfrm>
            <a:off x="793790" y="5711071"/>
            <a:ext cx="13042821"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72525"/>
              </a:buClr>
              <a:buSzPts val="1550"/>
              <a:buFont typeface="Inter"/>
              <a:buNone/>
            </a:pPr>
            <a:r>
              <a:rPr b="0" i="0" lang="en-US" sz="1550" u="none" cap="none" strike="noStrike">
                <a:solidFill>
                  <a:srgbClr val="272525"/>
                </a:solidFill>
                <a:latin typeface="Inter"/>
                <a:ea typeface="Inter"/>
                <a:cs typeface="Inter"/>
                <a:sym typeface="Inter"/>
              </a:rPr>
              <a:t>With urban populations growing rapidly, traditional waste management approaches cannot scale effectively. Cities need autonomous, data-driven solutions that optimize resource allocation and ensure consistent cleanliness across all neighborhoods.</a:t>
            </a:r>
            <a:endParaRPr b="0" i="0" sz="1550" u="none" cap="none" strike="noStrike"/>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pic>
        <p:nvPicPr>
          <p:cNvPr descr="preencoded.png" id="87" name="Google Shape;87;p16"/>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88" name="Google Shape;88;p16"/>
          <p:cNvSpPr/>
          <p:nvPr/>
        </p:nvSpPr>
        <p:spPr>
          <a:xfrm>
            <a:off x="793790" y="1464350"/>
            <a:ext cx="5627370" cy="620078"/>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000000"/>
              </a:buClr>
              <a:buSzPts val="3900"/>
              <a:buFont typeface="Inter"/>
              <a:buNone/>
            </a:pPr>
            <a:r>
              <a:rPr b="1" i="0" lang="en-US" sz="3900" u="none" cap="none" strike="noStrike">
                <a:solidFill>
                  <a:srgbClr val="000000"/>
                </a:solidFill>
                <a:latin typeface="Inter"/>
                <a:ea typeface="Inter"/>
                <a:cs typeface="Inter"/>
                <a:sym typeface="Inter"/>
              </a:rPr>
              <a:t>Introducing NightClean</a:t>
            </a:r>
            <a:endParaRPr b="0" i="0" sz="3900" u="none" cap="none" strike="noStrike"/>
          </a:p>
        </p:txBody>
      </p:sp>
      <p:pic>
        <p:nvPicPr>
          <p:cNvPr descr="preencoded.png" id="89" name="Google Shape;89;p16"/>
          <p:cNvPicPr preferRelativeResize="0"/>
          <p:nvPr/>
        </p:nvPicPr>
        <p:blipFill rotWithShape="1">
          <a:blip r:embed="rId4">
            <a:alphaModFix/>
          </a:blip>
          <a:srcRect b="0" l="0" r="0" t="0"/>
          <a:stretch/>
        </p:blipFill>
        <p:spPr>
          <a:xfrm>
            <a:off x="793790" y="2382083"/>
            <a:ext cx="992267" cy="1461016"/>
          </a:xfrm>
          <a:prstGeom prst="rect">
            <a:avLst/>
          </a:prstGeom>
          <a:noFill/>
          <a:ln>
            <a:noFill/>
          </a:ln>
        </p:spPr>
      </p:pic>
      <p:sp>
        <p:nvSpPr>
          <p:cNvPr id="90" name="Google Shape;90;p16"/>
          <p:cNvSpPr/>
          <p:nvPr/>
        </p:nvSpPr>
        <p:spPr>
          <a:xfrm>
            <a:off x="1984415" y="2580442"/>
            <a:ext cx="3411498"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272525"/>
              </a:buClr>
              <a:buSzPts val="1950"/>
              <a:buFont typeface="Inter"/>
              <a:buNone/>
            </a:pPr>
            <a:r>
              <a:rPr b="1" i="0" lang="en-US" sz="1950" u="none" cap="none" strike="noStrike">
                <a:solidFill>
                  <a:srgbClr val="272525"/>
                </a:solidFill>
                <a:latin typeface="Inter"/>
                <a:ea typeface="Inter"/>
                <a:cs typeface="Inter"/>
                <a:sym typeface="Inter"/>
              </a:rPr>
              <a:t>Autonomous Night Cleaning</a:t>
            </a:r>
            <a:endParaRPr b="0" i="0" sz="1950" u="none" cap="none" strike="noStrike"/>
          </a:p>
        </p:txBody>
      </p:sp>
      <p:sp>
        <p:nvSpPr>
          <p:cNvPr id="91" name="Google Shape;91;p16"/>
          <p:cNvSpPr/>
          <p:nvPr/>
        </p:nvSpPr>
        <p:spPr>
          <a:xfrm>
            <a:off x="1984415" y="3009662"/>
            <a:ext cx="6365796"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72525"/>
              </a:buClr>
              <a:buSzPts val="1550"/>
              <a:buFont typeface="Inter"/>
              <a:buNone/>
            </a:pPr>
            <a:r>
              <a:rPr b="0" i="0" lang="en-US" sz="1550" u="none" cap="none" strike="noStrike">
                <a:solidFill>
                  <a:srgbClr val="272525"/>
                </a:solidFill>
                <a:latin typeface="Inter"/>
                <a:ea typeface="Inter"/>
                <a:cs typeface="Inter"/>
                <a:sym typeface="Inter"/>
              </a:rPr>
              <a:t>Self-driving trucks patrol empty roads between 12 AM–5 AM, collecting waste without disrupting daytime traffic</a:t>
            </a:r>
            <a:endParaRPr b="0" i="0" sz="1550" u="none" cap="none" strike="noStrike"/>
          </a:p>
        </p:txBody>
      </p:sp>
      <p:pic>
        <p:nvPicPr>
          <p:cNvPr descr="preencoded.png" id="92" name="Google Shape;92;p16"/>
          <p:cNvPicPr preferRelativeResize="0"/>
          <p:nvPr/>
        </p:nvPicPr>
        <p:blipFill rotWithShape="1">
          <a:blip r:embed="rId5">
            <a:alphaModFix/>
          </a:blip>
          <a:srcRect b="0" l="0" r="0" t="0"/>
          <a:stretch/>
        </p:blipFill>
        <p:spPr>
          <a:xfrm>
            <a:off x="793790" y="3843099"/>
            <a:ext cx="992267" cy="1461016"/>
          </a:xfrm>
          <a:prstGeom prst="rect">
            <a:avLst/>
          </a:prstGeom>
          <a:noFill/>
          <a:ln>
            <a:noFill/>
          </a:ln>
        </p:spPr>
      </p:pic>
      <p:sp>
        <p:nvSpPr>
          <p:cNvPr id="93" name="Google Shape;93;p16"/>
          <p:cNvSpPr/>
          <p:nvPr/>
        </p:nvSpPr>
        <p:spPr>
          <a:xfrm>
            <a:off x="1984415" y="4041458"/>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272525"/>
              </a:buClr>
              <a:buSzPts val="1950"/>
              <a:buFont typeface="Inter"/>
              <a:buNone/>
            </a:pPr>
            <a:r>
              <a:rPr b="1" i="0" lang="en-US" sz="1950" u="none" cap="none" strike="noStrike">
                <a:solidFill>
                  <a:srgbClr val="272525"/>
                </a:solidFill>
                <a:latin typeface="Inter"/>
                <a:ea typeface="Inter"/>
                <a:cs typeface="Inter"/>
                <a:sym typeface="Inter"/>
              </a:rPr>
              <a:t>AI Vision Detection</a:t>
            </a:r>
            <a:endParaRPr b="0" i="0" sz="1950" u="none" cap="none" strike="noStrike"/>
          </a:p>
        </p:txBody>
      </p:sp>
      <p:sp>
        <p:nvSpPr>
          <p:cNvPr id="94" name="Google Shape;94;p16"/>
          <p:cNvSpPr/>
          <p:nvPr/>
        </p:nvSpPr>
        <p:spPr>
          <a:xfrm>
            <a:off x="1984415" y="4470678"/>
            <a:ext cx="6365796"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72525"/>
              </a:buClr>
              <a:buSzPts val="1550"/>
              <a:buFont typeface="Inter"/>
              <a:buNone/>
            </a:pPr>
            <a:r>
              <a:rPr b="0" i="0" lang="en-US" sz="1550" u="none" cap="none" strike="noStrike">
                <a:solidFill>
                  <a:srgbClr val="272525"/>
                </a:solidFill>
                <a:latin typeface="Inter"/>
                <a:ea typeface="Inter"/>
                <a:cs typeface="Inter"/>
                <a:sym typeface="Inter"/>
              </a:rPr>
              <a:t>Computer vision identifies garbage in real-time using trained machine learning models</a:t>
            </a:r>
            <a:endParaRPr b="0" i="0" sz="1550" u="none" cap="none" strike="noStrike"/>
          </a:p>
        </p:txBody>
      </p:sp>
      <p:pic>
        <p:nvPicPr>
          <p:cNvPr descr="preencoded.png" id="95" name="Google Shape;95;p16"/>
          <p:cNvPicPr preferRelativeResize="0"/>
          <p:nvPr/>
        </p:nvPicPr>
        <p:blipFill rotWithShape="1">
          <a:blip r:embed="rId6">
            <a:alphaModFix/>
          </a:blip>
          <a:srcRect b="0" l="0" r="0" t="0"/>
          <a:stretch/>
        </p:blipFill>
        <p:spPr>
          <a:xfrm>
            <a:off x="793790" y="5304115"/>
            <a:ext cx="992267" cy="1461016"/>
          </a:xfrm>
          <a:prstGeom prst="rect">
            <a:avLst/>
          </a:prstGeom>
          <a:noFill/>
          <a:ln>
            <a:noFill/>
          </a:ln>
        </p:spPr>
      </p:pic>
      <p:sp>
        <p:nvSpPr>
          <p:cNvPr id="96" name="Google Shape;96;p16"/>
          <p:cNvSpPr/>
          <p:nvPr/>
        </p:nvSpPr>
        <p:spPr>
          <a:xfrm>
            <a:off x="1984415" y="5502473"/>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272525"/>
              </a:buClr>
              <a:buSzPts val="1950"/>
              <a:buFont typeface="Inter"/>
              <a:buNone/>
            </a:pPr>
            <a:r>
              <a:rPr b="1" i="0" lang="en-US" sz="1950" u="none" cap="none" strike="noStrike">
                <a:solidFill>
                  <a:srgbClr val="272525"/>
                </a:solidFill>
                <a:latin typeface="Inter"/>
                <a:ea typeface="Inter"/>
                <a:cs typeface="Inter"/>
                <a:sym typeface="Inter"/>
              </a:rPr>
              <a:t>Citizen Reporting</a:t>
            </a:r>
            <a:endParaRPr b="0" i="0" sz="1950" u="none" cap="none" strike="noStrike"/>
          </a:p>
        </p:txBody>
      </p:sp>
      <p:sp>
        <p:nvSpPr>
          <p:cNvPr id="97" name="Google Shape;97;p16"/>
          <p:cNvSpPr/>
          <p:nvPr/>
        </p:nvSpPr>
        <p:spPr>
          <a:xfrm>
            <a:off x="1984415" y="5931694"/>
            <a:ext cx="6365796"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72525"/>
              </a:buClr>
              <a:buSzPts val="1550"/>
              <a:buFont typeface="Inter"/>
              <a:buNone/>
            </a:pPr>
            <a:r>
              <a:rPr b="0" i="0" lang="en-US" sz="1550" u="none" cap="none" strike="noStrike">
                <a:solidFill>
                  <a:srgbClr val="272525"/>
                </a:solidFill>
                <a:latin typeface="Inter"/>
                <a:ea typeface="Inter"/>
                <a:cs typeface="Inter"/>
                <a:sym typeface="Inter"/>
              </a:rPr>
              <a:t>Residents upload photos of problem areas through web/mobile platform for targeted response</a:t>
            </a:r>
            <a:endParaRPr b="0" i="0" sz="1550" u="none" cap="none" strike="noStrike"/>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7"/>
          <p:cNvSpPr/>
          <p:nvPr/>
        </p:nvSpPr>
        <p:spPr>
          <a:xfrm>
            <a:off x="793790" y="795576"/>
            <a:ext cx="4980027" cy="620078"/>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000000"/>
              </a:buClr>
              <a:buSzPts val="3900"/>
              <a:buFont typeface="Inter"/>
              <a:buNone/>
            </a:pPr>
            <a:r>
              <a:rPr b="1" i="0" lang="en-US" sz="3900" u="none" cap="none" strike="noStrike">
                <a:solidFill>
                  <a:srgbClr val="000000"/>
                </a:solidFill>
                <a:latin typeface="Inter"/>
                <a:ea typeface="Inter"/>
                <a:cs typeface="Inter"/>
                <a:sym typeface="Inter"/>
              </a:rPr>
              <a:t>System Architecture</a:t>
            </a:r>
            <a:endParaRPr b="0" i="0" sz="3900" u="none" cap="none" strike="noStrike"/>
          </a:p>
        </p:txBody>
      </p:sp>
      <p:pic>
        <p:nvPicPr>
          <p:cNvPr descr="preencoded.png" id="104" name="Google Shape;104;p17"/>
          <p:cNvPicPr preferRelativeResize="0"/>
          <p:nvPr/>
        </p:nvPicPr>
        <p:blipFill rotWithShape="1">
          <a:blip r:embed="rId3">
            <a:alphaModFix/>
          </a:blip>
          <a:srcRect b="0" l="0" r="0" t="0"/>
          <a:stretch/>
        </p:blipFill>
        <p:spPr>
          <a:xfrm>
            <a:off x="870585" y="1812488"/>
            <a:ext cx="12889230" cy="5621536"/>
          </a:xfrm>
          <a:prstGeom prst="rect">
            <a:avLst/>
          </a:prstGeom>
          <a:noFill/>
          <a:ln>
            <a:noFill/>
          </a:ln>
        </p:spPr>
      </p:pic>
      <p:sp>
        <p:nvSpPr>
          <p:cNvPr id="105" name="Google Shape;105;p17"/>
          <p:cNvSpPr/>
          <p:nvPr/>
        </p:nvSpPr>
        <p:spPr>
          <a:xfrm>
            <a:off x="1894362" y="2079107"/>
            <a:ext cx="2791147" cy="366827"/>
          </a:xfrm>
          <a:prstGeom prst="rect">
            <a:avLst/>
          </a:prstGeom>
          <a:noFill/>
          <a:ln>
            <a:noFill/>
          </a:ln>
        </p:spPr>
        <p:txBody>
          <a:bodyPr anchorCtr="0" anchor="t" bIns="0" lIns="0" spcFirstLastPara="1" rIns="0" wrap="square" tIns="0">
            <a:noAutofit/>
          </a:bodyPr>
          <a:lstStyle/>
          <a:p>
            <a:pPr indent="0" lvl="0" marL="0" marR="0" rtl="0" algn="r">
              <a:lnSpc>
                <a:spcPct val="123913"/>
              </a:lnSpc>
              <a:spcBef>
                <a:spcPts val="0"/>
              </a:spcBef>
              <a:spcAft>
                <a:spcPts val="0"/>
              </a:spcAft>
              <a:buClr>
                <a:srgbClr val="272525"/>
              </a:buClr>
              <a:buSzPts val="2300"/>
              <a:buFont typeface="Inter"/>
              <a:buNone/>
            </a:pPr>
            <a:r>
              <a:rPr b="1" i="0" lang="en-US" sz="2300" u="none" cap="none" strike="noStrike">
                <a:solidFill>
                  <a:srgbClr val="272525"/>
                </a:solidFill>
                <a:latin typeface="Inter"/>
                <a:ea typeface="Inter"/>
                <a:cs typeface="Inter"/>
                <a:sym typeface="Inter"/>
              </a:rPr>
              <a:t>Data Sources</a:t>
            </a:r>
            <a:endParaRPr b="0" i="0" sz="2300" u="none" cap="none" strike="noStrike"/>
          </a:p>
        </p:txBody>
      </p:sp>
      <p:sp>
        <p:nvSpPr>
          <p:cNvPr id="106" name="Google Shape;106;p17"/>
          <p:cNvSpPr/>
          <p:nvPr/>
        </p:nvSpPr>
        <p:spPr>
          <a:xfrm>
            <a:off x="1894362" y="2550275"/>
            <a:ext cx="2791147" cy="586923"/>
          </a:xfrm>
          <a:prstGeom prst="rect">
            <a:avLst/>
          </a:prstGeom>
          <a:noFill/>
          <a:ln>
            <a:noFill/>
          </a:ln>
        </p:spPr>
        <p:txBody>
          <a:bodyPr anchorCtr="0" anchor="t" bIns="0" lIns="0" spcFirstLastPara="1" rIns="0" wrap="square" tIns="0">
            <a:noAutofit/>
          </a:bodyPr>
          <a:lstStyle/>
          <a:p>
            <a:pPr indent="0" lvl="0" marL="0" marR="0" rtl="0" algn="r">
              <a:lnSpc>
                <a:spcPct val="127777"/>
              </a:lnSpc>
              <a:spcBef>
                <a:spcPts val="0"/>
              </a:spcBef>
              <a:spcAft>
                <a:spcPts val="0"/>
              </a:spcAft>
              <a:buClr>
                <a:srgbClr val="272525"/>
              </a:buClr>
              <a:buSzPts val="1800"/>
              <a:buFont typeface="Inter"/>
              <a:buNone/>
            </a:pPr>
            <a:r>
              <a:rPr b="0" i="0" lang="en-US" sz="1800" u="none" cap="none" strike="noStrike">
                <a:solidFill>
                  <a:srgbClr val="272525"/>
                </a:solidFill>
                <a:latin typeface="Inter"/>
                <a:ea typeface="Inter"/>
                <a:cs typeface="Inter"/>
                <a:sym typeface="Inter"/>
              </a:rPr>
              <a:t>Sensors, cameras, and citizen reports collected</a:t>
            </a:r>
            <a:endParaRPr b="0" i="0" sz="1800" u="none" cap="none" strike="noStrike"/>
          </a:p>
        </p:txBody>
      </p:sp>
      <p:sp>
        <p:nvSpPr>
          <p:cNvPr id="107" name="Google Shape;107;p17"/>
          <p:cNvSpPr/>
          <p:nvPr/>
        </p:nvSpPr>
        <p:spPr>
          <a:xfrm>
            <a:off x="10661937" y="2952970"/>
            <a:ext cx="2791147" cy="366827"/>
          </a:xfrm>
          <a:prstGeom prst="rect">
            <a:avLst/>
          </a:prstGeom>
          <a:noFill/>
          <a:ln>
            <a:noFill/>
          </a:ln>
        </p:spPr>
        <p:txBody>
          <a:bodyPr anchorCtr="0" anchor="t" bIns="0" lIns="0" spcFirstLastPara="1" rIns="0" wrap="square" tIns="0">
            <a:noAutofit/>
          </a:bodyPr>
          <a:lstStyle/>
          <a:p>
            <a:pPr indent="0" lvl="0" marL="0" marR="0" rtl="0" algn="l">
              <a:lnSpc>
                <a:spcPct val="123913"/>
              </a:lnSpc>
              <a:spcBef>
                <a:spcPts val="0"/>
              </a:spcBef>
              <a:spcAft>
                <a:spcPts val="0"/>
              </a:spcAft>
              <a:buClr>
                <a:srgbClr val="272525"/>
              </a:buClr>
              <a:buSzPts val="2300"/>
              <a:buFont typeface="Inter"/>
              <a:buNone/>
            </a:pPr>
            <a:r>
              <a:rPr b="1" i="0" lang="en-US" sz="2300" u="none" cap="none" strike="noStrike">
                <a:solidFill>
                  <a:srgbClr val="272525"/>
                </a:solidFill>
                <a:latin typeface="Inter"/>
                <a:ea typeface="Inter"/>
                <a:cs typeface="Inter"/>
                <a:sym typeface="Inter"/>
              </a:rPr>
              <a:t>Cloud Ingest</a:t>
            </a:r>
            <a:endParaRPr b="0" i="0" sz="2300" u="none" cap="none" strike="noStrike"/>
          </a:p>
        </p:txBody>
      </p:sp>
      <p:sp>
        <p:nvSpPr>
          <p:cNvPr id="108" name="Google Shape;108;p17"/>
          <p:cNvSpPr/>
          <p:nvPr/>
        </p:nvSpPr>
        <p:spPr>
          <a:xfrm>
            <a:off x="10661937" y="3424139"/>
            <a:ext cx="2791147" cy="586923"/>
          </a:xfrm>
          <a:prstGeom prst="rect">
            <a:avLst/>
          </a:prstGeom>
          <a:noFill/>
          <a:ln>
            <a:noFill/>
          </a:ln>
        </p:spPr>
        <p:txBody>
          <a:bodyPr anchorCtr="0" anchor="t" bIns="0" lIns="0" spcFirstLastPara="1" rIns="0" wrap="square" tIns="0">
            <a:noAutofit/>
          </a:bodyPr>
          <a:lstStyle/>
          <a:p>
            <a:pPr indent="0" lvl="0" marL="0" marR="0" rtl="0" algn="l">
              <a:lnSpc>
                <a:spcPct val="127777"/>
              </a:lnSpc>
              <a:spcBef>
                <a:spcPts val="0"/>
              </a:spcBef>
              <a:spcAft>
                <a:spcPts val="0"/>
              </a:spcAft>
              <a:buClr>
                <a:srgbClr val="272525"/>
              </a:buClr>
              <a:buSzPts val="1800"/>
              <a:buFont typeface="Inter"/>
              <a:buNone/>
            </a:pPr>
            <a:r>
              <a:rPr b="0" i="0" lang="en-US" sz="1800" u="none" cap="none" strike="noStrike">
                <a:solidFill>
                  <a:srgbClr val="272525"/>
                </a:solidFill>
                <a:latin typeface="Inter"/>
                <a:ea typeface="Inter"/>
                <a:cs typeface="Inter"/>
                <a:sym typeface="Inter"/>
              </a:rPr>
              <a:t>Secure upload and preprocessing in cloud</a:t>
            </a:r>
            <a:endParaRPr b="0" i="0" sz="1800" u="none" cap="none" strike="noStrike"/>
          </a:p>
        </p:txBody>
      </p:sp>
      <p:sp>
        <p:nvSpPr>
          <p:cNvPr id="109" name="Google Shape;109;p17"/>
          <p:cNvSpPr/>
          <p:nvPr/>
        </p:nvSpPr>
        <p:spPr>
          <a:xfrm>
            <a:off x="1177011" y="3957261"/>
            <a:ext cx="2791147" cy="366827"/>
          </a:xfrm>
          <a:prstGeom prst="rect">
            <a:avLst/>
          </a:prstGeom>
          <a:noFill/>
          <a:ln>
            <a:noFill/>
          </a:ln>
        </p:spPr>
        <p:txBody>
          <a:bodyPr anchorCtr="0" anchor="t" bIns="0" lIns="0" spcFirstLastPara="1" rIns="0" wrap="square" tIns="0">
            <a:noAutofit/>
          </a:bodyPr>
          <a:lstStyle/>
          <a:p>
            <a:pPr indent="0" lvl="0" marL="0" marR="0" rtl="0" algn="r">
              <a:lnSpc>
                <a:spcPct val="123913"/>
              </a:lnSpc>
              <a:spcBef>
                <a:spcPts val="0"/>
              </a:spcBef>
              <a:spcAft>
                <a:spcPts val="0"/>
              </a:spcAft>
              <a:buClr>
                <a:srgbClr val="272525"/>
              </a:buClr>
              <a:buSzPts val="2300"/>
              <a:buFont typeface="Inter"/>
              <a:buNone/>
            </a:pPr>
            <a:r>
              <a:rPr b="1" i="0" lang="en-US" sz="2300" u="none" cap="none" strike="noStrike">
                <a:solidFill>
                  <a:srgbClr val="272525"/>
                </a:solidFill>
                <a:latin typeface="Inter"/>
                <a:ea typeface="Inter"/>
                <a:cs typeface="Inter"/>
                <a:sym typeface="Inter"/>
              </a:rPr>
              <a:t>AI Processing</a:t>
            </a:r>
            <a:endParaRPr b="0" i="0" sz="2300" u="none" cap="none" strike="noStrike"/>
          </a:p>
        </p:txBody>
      </p:sp>
      <p:sp>
        <p:nvSpPr>
          <p:cNvPr id="110" name="Google Shape;110;p17"/>
          <p:cNvSpPr/>
          <p:nvPr/>
        </p:nvSpPr>
        <p:spPr>
          <a:xfrm>
            <a:off x="1177011" y="4428430"/>
            <a:ext cx="2791147" cy="586924"/>
          </a:xfrm>
          <a:prstGeom prst="rect">
            <a:avLst/>
          </a:prstGeom>
          <a:noFill/>
          <a:ln>
            <a:noFill/>
          </a:ln>
        </p:spPr>
        <p:txBody>
          <a:bodyPr anchorCtr="0" anchor="t" bIns="0" lIns="0" spcFirstLastPara="1" rIns="0" wrap="square" tIns="0">
            <a:noAutofit/>
          </a:bodyPr>
          <a:lstStyle/>
          <a:p>
            <a:pPr indent="0" lvl="0" marL="0" marR="0" rtl="0" algn="r">
              <a:lnSpc>
                <a:spcPct val="127777"/>
              </a:lnSpc>
              <a:spcBef>
                <a:spcPts val="0"/>
              </a:spcBef>
              <a:spcAft>
                <a:spcPts val="0"/>
              </a:spcAft>
              <a:buClr>
                <a:srgbClr val="272525"/>
              </a:buClr>
              <a:buSzPts val="1800"/>
              <a:buFont typeface="Inter"/>
              <a:buNone/>
            </a:pPr>
            <a:r>
              <a:rPr b="0" i="0" lang="en-US" sz="1800" u="none" cap="none" strike="noStrike">
                <a:solidFill>
                  <a:srgbClr val="272525"/>
                </a:solidFill>
                <a:latin typeface="Inter"/>
                <a:ea typeface="Inter"/>
                <a:cs typeface="Inter"/>
                <a:sym typeface="Inter"/>
              </a:rPr>
              <a:t>Computer vision and analytics applied</a:t>
            </a:r>
            <a:endParaRPr b="0" i="0" sz="1800" u="none" cap="none" strike="noStrike"/>
          </a:p>
        </p:txBody>
      </p:sp>
      <p:sp>
        <p:nvSpPr>
          <p:cNvPr id="111" name="Google Shape;111;p17"/>
          <p:cNvSpPr/>
          <p:nvPr/>
        </p:nvSpPr>
        <p:spPr>
          <a:xfrm>
            <a:off x="10661937" y="5170236"/>
            <a:ext cx="2791147" cy="366827"/>
          </a:xfrm>
          <a:prstGeom prst="rect">
            <a:avLst/>
          </a:prstGeom>
          <a:noFill/>
          <a:ln>
            <a:noFill/>
          </a:ln>
        </p:spPr>
        <p:txBody>
          <a:bodyPr anchorCtr="0" anchor="t" bIns="0" lIns="0" spcFirstLastPara="1" rIns="0" wrap="square" tIns="0">
            <a:noAutofit/>
          </a:bodyPr>
          <a:lstStyle/>
          <a:p>
            <a:pPr indent="0" lvl="0" marL="0" marR="0" rtl="0" algn="l">
              <a:lnSpc>
                <a:spcPct val="123913"/>
              </a:lnSpc>
              <a:spcBef>
                <a:spcPts val="0"/>
              </a:spcBef>
              <a:spcAft>
                <a:spcPts val="0"/>
              </a:spcAft>
              <a:buClr>
                <a:srgbClr val="272525"/>
              </a:buClr>
              <a:buSzPts val="2300"/>
              <a:buFont typeface="Inter"/>
              <a:buNone/>
            </a:pPr>
            <a:r>
              <a:rPr b="1" i="0" lang="en-US" sz="2300" u="none" cap="none" strike="noStrike">
                <a:solidFill>
                  <a:srgbClr val="272525"/>
                </a:solidFill>
                <a:latin typeface="Inter"/>
                <a:ea typeface="Inter"/>
                <a:cs typeface="Inter"/>
                <a:sym typeface="Inter"/>
              </a:rPr>
              <a:t>Route Optimization</a:t>
            </a:r>
            <a:endParaRPr b="0" i="0" sz="2300" u="none" cap="none" strike="noStrike"/>
          </a:p>
        </p:txBody>
      </p:sp>
      <p:sp>
        <p:nvSpPr>
          <p:cNvPr id="112" name="Google Shape;112;p17"/>
          <p:cNvSpPr/>
          <p:nvPr/>
        </p:nvSpPr>
        <p:spPr>
          <a:xfrm>
            <a:off x="10661937" y="5641405"/>
            <a:ext cx="2791147" cy="586923"/>
          </a:xfrm>
          <a:prstGeom prst="rect">
            <a:avLst/>
          </a:prstGeom>
          <a:noFill/>
          <a:ln>
            <a:noFill/>
          </a:ln>
        </p:spPr>
        <p:txBody>
          <a:bodyPr anchorCtr="0" anchor="t" bIns="0" lIns="0" spcFirstLastPara="1" rIns="0" wrap="square" tIns="0">
            <a:noAutofit/>
          </a:bodyPr>
          <a:lstStyle/>
          <a:p>
            <a:pPr indent="0" lvl="0" marL="0" marR="0" rtl="0" algn="l">
              <a:lnSpc>
                <a:spcPct val="127777"/>
              </a:lnSpc>
              <a:spcBef>
                <a:spcPts val="0"/>
              </a:spcBef>
              <a:spcAft>
                <a:spcPts val="0"/>
              </a:spcAft>
              <a:buClr>
                <a:srgbClr val="272525"/>
              </a:buClr>
              <a:buSzPts val="1800"/>
              <a:buFont typeface="Inter"/>
              <a:buNone/>
            </a:pPr>
            <a:r>
              <a:rPr b="0" i="0" lang="en-US" sz="1800" u="none" cap="none" strike="noStrike">
                <a:solidFill>
                  <a:srgbClr val="272525"/>
                </a:solidFill>
                <a:latin typeface="Inter"/>
                <a:ea typeface="Inter"/>
                <a:cs typeface="Inter"/>
                <a:sym typeface="Inter"/>
              </a:rPr>
              <a:t>Compute optimal paths and controls</a:t>
            </a:r>
            <a:endParaRPr b="0" i="0" sz="1800" u="none" cap="none" strike="noStrike"/>
          </a:p>
        </p:txBody>
      </p:sp>
      <p:sp>
        <p:nvSpPr>
          <p:cNvPr id="113" name="Google Shape;113;p17"/>
          <p:cNvSpPr/>
          <p:nvPr/>
        </p:nvSpPr>
        <p:spPr>
          <a:xfrm>
            <a:off x="2429114" y="5925900"/>
            <a:ext cx="2791147" cy="733654"/>
          </a:xfrm>
          <a:prstGeom prst="rect">
            <a:avLst/>
          </a:prstGeom>
          <a:noFill/>
          <a:ln>
            <a:noFill/>
          </a:ln>
        </p:spPr>
        <p:txBody>
          <a:bodyPr anchorCtr="0" anchor="t" bIns="0" lIns="0" spcFirstLastPara="1" rIns="0" wrap="square" tIns="0">
            <a:noAutofit/>
          </a:bodyPr>
          <a:lstStyle/>
          <a:p>
            <a:pPr indent="0" lvl="0" marL="0" marR="0" rtl="0" algn="r">
              <a:lnSpc>
                <a:spcPct val="123913"/>
              </a:lnSpc>
              <a:spcBef>
                <a:spcPts val="0"/>
              </a:spcBef>
              <a:spcAft>
                <a:spcPts val="0"/>
              </a:spcAft>
              <a:buClr>
                <a:srgbClr val="272525"/>
              </a:buClr>
              <a:buSzPts val="2300"/>
              <a:buFont typeface="Inter"/>
              <a:buNone/>
            </a:pPr>
            <a:r>
              <a:rPr b="1" i="0" lang="en-US" sz="2300" u="none" cap="none" strike="noStrike">
                <a:solidFill>
                  <a:srgbClr val="272525"/>
                </a:solidFill>
                <a:latin typeface="Inter"/>
                <a:ea typeface="Inter"/>
                <a:cs typeface="Inter"/>
                <a:sym typeface="Inter"/>
              </a:rPr>
              <a:t>Actuation &amp; Dashboard</a:t>
            </a:r>
            <a:endParaRPr b="0" i="0" sz="2300" u="none" cap="none" strike="noStrike"/>
          </a:p>
        </p:txBody>
      </p:sp>
      <p:sp>
        <p:nvSpPr>
          <p:cNvPr id="114" name="Google Shape;114;p17"/>
          <p:cNvSpPr/>
          <p:nvPr/>
        </p:nvSpPr>
        <p:spPr>
          <a:xfrm>
            <a:off x="2429114" y="6763896"/>
            <a:ext cx="2791147" cy="586923"/>
          </a:xfrm>
          <a:prstGeom prst="rect">
            <a:avLst/>
          </a:prstGeom>
          <a:noFill/>
          <a:ln>
            <a:noFill/>
          </a:ln>
        </p:spPr>
        <p:txBody>
          <a:bodyPr anchorCtr="0" anchor="t" bIns="0" lIns="0" spcFirstLastPara="1" rIns="0" wrap="square" tIns="0">
            <a:noAutofit/>
          </a:bodyPr>
          <a:lstStyle/>
          <a:p>
            <a:pPr indent="0" lvl="0" marL="0" marR="0" rtl="0" algn="r">
              <a:lnSpc>
                <a:spcPct val="127777"/>
              </a:lnSpc>
              <a:spcBef>
                <a:spcPts val="0"/>
              </a:spcBef>
              <a:spcAft>
                <a:spcPts val="0"/>
              </a:spcAft>
              <a:buClr>
                <a:srgbClr val="272525"/>
              </a:buClr>
              <a:buSzPts val="1800"/>
              <a:buFont typeface="Inter"/>
              <a:buNone/>
            </a:pPr>
            <a:r>
              <a:rPr b="0" i="0" lang="en-US" sz="1800" u="none" cap="none" strike="noStrike">
                <a:solidFill>
                  <a:srgbClr val="272525"/>
                </a:solidFill>
                <a:latin typeface="Inter"/>
                <a:ea typeface="Inter"/>
                <a:cs typeface="Inter"/>
                <a:sym typeface="Inter"/>
              </a:rPr>
              <a:t>Navigation updates and dashboard sync</a:t>
            </a:r>
            <a:endParaRPr b="0" i="0" sz="1800" u="none" cap="none" strike="noStrike"/>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8"/>
          <p:cNvSpPr/>
          <p:nvPr/>
        </p:nvSpPr>
        <p:spPr>
          <a:xfrm>
            <a:off x="793790" y="754499"/>
            <a:ext cx="5304592" cy="589121"/>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000000"/>
              </a:buClr>
              <a:buSzPts val="3700"/>
              <a:buFont typeface="Inter"/>
              <a:buNone/>
            </a:pPr>
            <a:r>
              <a:rPr b="1" i="0" lang="en-US" sz="3700" u="none" cap="none" strike="noStrike">
                <a:solidFill>
                  <a:srgbClr val="000000"/>
                </a:solidFill>
                <a:latin typeface="Inter"/>
                <a:ea typeface="Inter"/>
                <a:cs typeface="Inter"/>
                <a:sym typeface="Inter"/>
              </a:rPr>
              <a:t>Hardware Components</a:t>
            </a:r>
            <a:endParaRPr b="0" i="0" sz="3700" u="none" cap="none" strike="noStrike"/>
          </a:p>
        </p:txBody>
      </p:sp>
      <p:pic>
        <p:nvPicPr>
          <p:cNvPr descr="preencoded.png" id="121" name="Google Shape;121;p18"/>
          <p:cNvPicPr preferRelativeResize="0"/>
          <p:nvPr/>
        </p:nvPicPr>
        <p:blipFill rotWithShape="1">
          <a:blip r:embed="rId3">
            <a:alphaModFix/>
          </a:blip>
          <a:srcRect b="0" l="0" r="0" t="0"/>
          <a:stretch/>
        </p:blipFill>
        <p:spPr>
          <a:xfrm>
            <a:off x="793790" y="1701760"/>
            <a:ext cx="471368" cy="471368"/>
          </a:xfrm>
          <a:prstGeom prst="rect">
            <a:avLst/>
          </a:prstGeom>
          <a:noFill/>
          <a:ln>
            <a:noFill/>
          </a:ln>
        </p:spPr>
      </p:pic>
      <p:sp>
        <p:nvSpPr>
          <p:cNvPr id="122" name="Google Shape;122;p18"/>
          <p:cNvSpPr/>
          <p:nvPr/>
        </p:nvSpPr>
        <p:spPr>
          <a:xfrm>
            <a:off x="793790" y="2396966"/>
            <a:ext cx="2356842" cy="29468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272525"/>
              </a:buClr>
              <a:buSzPts val="1850"/>
              <a:buFont typeface="Inter"/>
              <a:buNone/>
            </a:pPr>
            <a:r>
              <a:rPr b="1" i="0" lang="en-US" sz="1850" u="none" cap="none" strike="noStrike">
                <a:solidFill>
                  <a:srgbClr val="272525"/>
                </a:solidFill>
                <a:latin typeface="Inter"/>
                <a:ea typeface="Inter"/>
                <a:cs typeface="Inter"/>
                <a:sym typeface="Inter"/>
              </a:rPr>
              <a:t>Processing Unit</a:t>
            </a:r>
            <a:endParaRPr b="0" i="0" sz="1850" u="none" cap="none" strike="noStrike"/>
          </a:p>
        </p:txBody>
      </p:sp>
      <p:sp>
        <p:nvSpPr>
          <p:cNvPr id="123" name="Google Shape;123;p18"/>
          <p:cNvSpPr/>
          <p:nvPr/>
        </p:nvSpPr>
        <p:spPr>
          <a:xfrm>
            <a:off x="793790" y="2799040"/>
            <a:ext cx="6409492" cy="588407"/>
          </a:xfrm>
          <a:prstGeom prst="rect">
            <a:avLst/>
          </a:prstGeom>
          <a:noFill/>
          <a:ln>
            <a:noFill/>
          </a:ln>
        </p:spPr>
        <p:txBody>
          <a:bodyPr anchorCtr="0" anchor="t" bIns="0" lIns="0" spcFirstLastPara="1" rIns="0" wrap="square" tIns="0">
            <a:noAutofit/>
          </a:bodyPr>
          <a:lstStyle/>
          <a:p>
            <a:pPr indent="0" lvl="0" marL="0" marR="0" rtl="0" algn="l">
              <a:lnSpc>
                <a:spcPct val="158620"/>
              </a:lnSpc>
              <a:spcBef>
                <a:spcPts val="0"/>
              </a:spcBef>
              <a:spcAft>
                <a:spcPts val="0"/>
              </a:spcAft>
              <a:buClr>
                <a:srgbClr val="272525"/>
              </a:buClr>
              <a:buSzPts val="1450"/>
              <a:buFont typeface="Inter"/>
              <a:buNone/>
            </a:pPr>
            <a:r>
              <a:rPr b="0" i="0" lang="en-US" sz="1450" u="none" cap="none" strike="noStrike">
                <a:solidFill>
                  <a:srgbClr val="272525"/>
                </a:solidFill>
                <a:latin typeface="Inter"/>
                <a:ea typeface="Inter"/>
                <a:cs typeface="Inter"/>
                <a:sym typeface="Inter"/>
              </a:rPr>
              <a:t>Raspberry Pi or ESP32 microcontroller serving as the brain, processing sensor data and executing control commands in real-time</a:t>
            </a:r>
            <a:endParaRPr b="0" i="0" sz="1450" u="none" cap="none" strike="noStrike"/>
          </a:p>
        </p:txBody>
      </p:sp>
      <p:pic>
        <p:nvPicPr>
          <p:cNvPr descr="preencoded.png" id="124" name="Google Shape;124;p18"/>
          <p:cNvPicPr preferRelativeResize="0"/>
          <p:nvPr/>
        </p:nvPicPr>
        <p:blipFill rotWithShape="1">
          <a:blip r:embed="rId4">
            <a:alphaModFix/>
          </a:blip>
          <a:srcRect b="0" l="0" r="0" t="0"/>
          <a:stretch/>
        </p:blipFill>
        <p:spPr>
          <a:xfrm>
            <a:off x="7427119" y="1701760"/>
            <a:ext cx="471368" cy="471368"/>
          </a:xfrm>
          <a:prstGeom prst="rect">
            <a:avLst/>
          </a:prstGeom>
          <a:noFill/>
          <a:ln>
            <a:noFill/>
          </a:ln>
        </p:spPr>
      </p:pic>
      <p:sp>
        <p:nvSpPr>
          <p:cNvPr id="125" name="Google Shape;125;p18"/>
          <p:cNvSpPr/>
          <p:nvPr/>
        </p:nvSpPr>
        <p:spPr>
          <a:xfrm>
            <a:off x="7427119" y="2396966"/>
            <a:ext cx="2356842" cy="29468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272525"/>
              </a:buClr>
              <a:buSzPts val="1850"/>
              <a:buFont typeface="Inter"/>
              <a:buNone/>
            </a:pPr>
            <a:r>
              <a:rPr b="1" i="0" lang="en-US" sz="1850" u="none" cap="none" strike="noStrike">
                <a:solidFill>
                  <a:srgbClr val="272525"/>
                </a:solidFill>
                <a:latin typeface="Inter"/>
                <a:ea typeface="Inter"/>
                <a:cs typeface="Inter"/>
                <a:sym typeface="Inter"/>
              </a:rPr>
              <a:t>Vision System</a:t>
            </a:r>
            <a:endParaRPr b="0" i="0" sz="1850" u="none" cap="none" strike="noStrike"/>
          </a:p>
        </p:txBody>
      </p:sp>
      <p:sp>
        <p:nvSpPr>
          <p:cNvPr id="126" name="Google Shape;126;p18"/>
          <p:cNvSpPr/>
          <p:nvPr/>
        </p:nvSpPr>
        <p:spPr>
          <a:xfrm>
            <a:off x="7427119" y="2799040"/>
            <a:ext cx="6409492" cy="588407"/>
          </a:xfrm>
          <a:prstGeom prst="rect">
            <a:avLst/>
          </a:prstGeom>
          <a:noFill/>
          <a:ln>
            <a:noFill/>
          </a:ln>
        </p:spPr>
        <p:txBody>
          <a:bodyPr anchorCtr="0" anchor="t" bIns="0" lIns="0" spcFirstLastPara="1" rIns="0" wrap="square" tIns="0">
            <a:noAutofit/>
          </a:bodyPr>
          <a:lstStyle/>
          <a:p>
            <a:pPr indent="0" lvl="0" marL="0" marR="0" rtl="0" algn="l">
              <a:lnSpc>
                <a:spcPct val="158620"/>
              </a:lnSpc>
              <a:spcBef>
                <a:spcPts val="0"/>
              </a:spcBef>
              <a:spcAft>
                <a:spcPts val="0"/>
              </a:spcAft>
              <a:buClr>
                <a:srgbClr val="272525"/>
              </a:buClr>
              <a:buSzPts val="1450"/>
              <a:buFont typeface="Inter"/>
              <a:buNone/>
            </a:pPr>
            <a:r>
              <a:rPr b="0" i="0" lang="en-US" sz="1450" u="none" cap="none" strike="noStrike">
                <a:solidFill>
                  <a:srgbClr val="272525"/>
                </a:solidFill>
                <a:latin typeface="Inter"/>
                <a:ea typeface="Inter"/>
                <a:cs typeface="Inter"/>
                <a:sym typeface="Inter"/>
              </a:rPr>
              <a:t>High-resolution camera module captures street imagery continuously, feeding frames to AI detection models</a:t>
            </a:r>
            <a:endParaRPr b="0" i="0" sz="1450" u="none" cap="none" strike="noStrike"/>
          </a:p>
        </p:txBody>
      </p:sp>
      <p:pic>
        <p:nvPicPr>
          <p:cNvPr descr="preencoded.png" id="127" name="Google Shape;127;p18"/>
          <p:cNvPicPr preferRelativeResize="0"/>
          <p:nvPr/>
        </p:nvPicPr>
        <p:blipFill rotWithShape="1">
          <a:blip r:embed="rId5">
            <a:alphaModFix/>
          </a:blip>
          <a:srcRect b="0" l="0" r="0" t="0"/>
          <a:stretch/>
        </p:blipFill>
        <p:spPr>
          <a:xfrm>
            <a:off x="793790" y="3745587"/>
            <a:ext cx="471368" cy="471368"/>
          </a:xfrm>
          <a:prstGeom prst="rect">
            <a:avLst/>
          </a:prstGeom>
          <a:noFill/>
          <a:ln>
            <a:noFill/>
          </a:ln>
        </p:spPr>
      </p:pic>
      <p:sp>
        <p:nvSpPr>
          <p:cNvPr id="128" name="Google Shape;128;p18"/>
          <p:cNvSpPr/>
          <p:nvPr/>
        </p:nvSpPr>
        <p:spPr>
          <a:xfrm>
            <a:off x="793790" y="4440793"/>
            <a:ext cx="2356842" cy="29468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272525"/>
              </a:buClr>
              <a:buSzPts val="1850"/>
              <a:buFont typeface="Inter"/>
              <a:buNone/>
            </a:pPr>
            <a:r>
              <a:rPr b="1" i="0" lang="en-US" sz="1850" u="none" cap="none" strike="noStrike">
                <a:solidFill>
                  <a:srgbClr val="272525"/>
                </a:solidFill>
                <a:latin typeface="Inter"/>
                <a:ea typeface="Inter"/>
                <a:cs typeface="Inter"/>
                <a:sym typeface="Inter"/>
              </a:rPr>
              <a:t>Distance Sensors</a:t>
            </a:r>
            <a:endParaRPr b="0" i="0" sz="1850" u="none" cap="none" strike="noStrike"/>
          </a:p>
        </p:txBody>
      </p:sp>
      <p:sp>
        <p:nvSpPr>
          <p:cNvPr id="129" name="Google Shape;129;p18"/>
          <p:cNvSpPr/>
          <p:nvPr/>
        </p:nvSpPr>
        <p:spPr>
          <a:xfrm>
            <a:off x="793790" y="4842867"/>
            <a:ext cx="6409492" cy="588407"/>
          </a:xfrm>
          <a:prstGeom prst="rect">
            <a:avLst/>
          </a:prstGeom>
          <a:noFill/>
          <a:ln>
            <a:noFill/>
          </a:ln>
        </p:spPr>
        <p:txBody>
          <a:bodyPr anchorCtr="0" anchor="t" bIns="0" lIns="0" spcFirstLastPara="1" rIns="0" wrap="square" tIns="0">
            <a:noAutofit/>
          </a:bodyPr>
          <a:lstStyle/>
          <a:p>
            <a:pPr indent="0" lvl="0" marL="0" marR="0" rtl="0" algn="l">
              <a:lnSpc>
                <a:spcPct val="158620"/>
              </a:lnSpc>
              <a:spcBef>
                <a:spcPts val="0"/>
              </a:spcBef>
              <a:spcAft>
                <a:spcPts val="0"/>
              </a:spcAft>
              <a:buClr>
                <a:srgbClr val="272525"/>
              </a:buClr>
              <a:buSzPts val="1450"/>
              <a:buFont typeface="Inter"/>
              <a:buNone/>
            </a:pPr>
            <a:r>
              <a:rPr b="0" i="0" lang="en-US" sz="1450" u="none" cap="none" strike="noStrike">
                <a:solidFill>
                  <a:srgbClr val="272525"/>
                </a:solidFill>
                <a:latin typeface="Inter"/>
                <a:ea typeface="Inter"/>
                <a:cs typeface="Inter"/>
                <a:sym typeface="Inter"/>
              </a:rPr>
              <a:t>Ultrasonic sensors detect obstacles and measure distances, ensuring safe navigation around objects</a:t>
            </a:r>
            <a:endParaRPr b="0" i="0" sz="1450" u="none" cap="none" strike="noStrike"/>
          </a:p>
        </p:txBody>
      </p:sp>
      <p:pic>
        <p:nvPicPr>
          <p:cNvPr descr="preencoded.png" id="130" name="Google Shape;130;p18"/>
          <p:cNvPicPr preferRelativeResize="0"/>
          <p:nvPr/>
        </p:nvPicPr>
        <p:blipFill rotWithShape="1">
          <a:blip r:embed="rId6">
            <a:alphaModFix/>
          </a:blip>
          <a:srcRect b="0" l="0" r="0" t="0"/>
          <a:stretch/>
        </p:blipFill>
        <p:spPr>
          <a:xfrm>
            <a:off x="7427119" y="3745587"/>
            <a:ext cx="471368" cy="471368"/>
          </a:xfrm>
          <a:prstGeom prst="rect">
            <a:avLst/>
          </a:prstGeom>
          <a:noFill/>
          <a:ln>
            <a:noFill/>
          </a:ln>
        </p:spPr>
      </p:pic>
      <p:sp>
        <p:nvSpPr>
          <p:cNvPr id="131" name="Google Shape;131;p18"/>
          <p:cNvSpPr/>
          <p:nvPr/>
        </p:nvSpPr>
        <p:spPr>
          <a:xfrm>
            <a:off x="7427119" y="4440793"/>
            <a:ext cx="2356842" cy="29468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272525"/>
              </a:buClr>
              <a:buSzPts val="1850"/>
              <a:buFont typeface="Inter"/>
              <a:buNone/>
            </a:pPr>
            <a:r>
              <a:rPr b="1" i="0" lang="en-US" sz="1850" u="none" cap="none" strike="noStrike">
                <a:solidFill>
                  <a:srgbClr val="272525"/>
                </a:solidFill>
                <a:latin typeface="Inter"/>
                <a:ea typeface="Inter"/>
                <a:cs typeface="Inter"/>
                <a:sym typeface="Inter"/>
              </a:rPr>
              <a:t>GPS Module</a:t>
            </a:r>
            <a:endParaRPr b="0" i="0" sz="1850" u="none" cap="none" strike="noStrike"/>
          </a:p>
        </p:txBody>
      </p:sp>
      <p:sp>
        <p:nvSpPr>
          <p:cNvPr id="132" name="Google Shape;132;p18"/>
          <p:cNvSpPr/>
          <p:nvPr/>
        </p:nvSpPr>
        <p:spPr>
          <a:xfrm>
            <a:off x="7427119" y="4842867"/>
            <a:ext cx="6409492" cy="588407"/>
          </a:xfrm>
          <a:prstGeom prst="rect">
            <a:avLst/>
          </a:prstGeom>
          <a:noFill/>
          <a:ln>
            <a:noFill/>
          </a:ln>
        </p:spPr>
        <p:txBody>
          <a:bodyPr anchorCtr="0" anchor="t" bIns="0" lIns="0" spcFirstLastPara="1" rIns="0" wrap="square" tIns="0">
            <a:noAutofit/>
          </a:bodyPr>
          <a:lstStyle/>
          <a:p>
            <a:pPr indent="0" lvl="0" marL="0" marR="0" rtl="0" algn="l">
              <a:lnSpc>
                <a:spcPct val="158620"/>
              </a:lnSpc>
              <a:spcBef>
                <a:spcPts val="0"/>
              </a:spcBef>
              <a:spcAft>
                <a:spcPts val="0"/>
              </a:spcAft>
              <a:buClr>
                <a:srgbClr val="272525"/>
              </a:buClr>
              <a:buSzPts val="1450"/>
              <a:buFont typeface="Inter"/>
              <a:buNone/>
            </a:pPr>
            <a:r>
              <a:rPr b="0" i="0" lang="en-US" sz="1450" u="none" cap="none" strike="noStrike">
                <a:solidFill>
                  <a:srgbClr val="272525"/>
                </a:solidFill>
                <a:latin typeface="Inter"/>
                <a:ea typeface="Inter"/>
                <a:cs typeface="Inter"/>
                <a:sym typeface="Inter"/>
              </a:rPr>
              <a:t>Precise location tracking enables accurate mapping of waste locations and optimized route planning</a:t>
            </a:r>
            <a:endParaRPr b="0" i="0" sz="1450" u="none" cap="none" strike="noStrike"/>
          </a:p>
        </p:txBody>
      </p:sp>
      <p:pic>
        <p:nvPicPr>
          <p:cNvPr descr="preencoded.png" id="133" name="Google Shape;133;p18"/>
          <p:cNvPicPr preferRelativeResize="0"/>
          <p:nvPr/>
        </p:nvPicPr>
        <p:blipFill rotWithShape="1">
          <a:blip r:embed="rId7">
            <a:alphaModFix/>
          </a:blip>
          <a:srcRect b="0" l="0" r="0" t="0"/>
          <a:stretch/>
        </p:blipFill>
        <p:spPr>
          <a:xfrm>
            <a:off x="793790" y="5789414"/>
            <a:ext cx="471368" cy="471368"/>
          </a:xfrm>
          <a:prstGeom prst="rect">
            <a:avLst/>
          </a:prstGeom>
          <a:noFill/>
          <a:ln>
            <a:noFill/>
          </a:ln>
        </p:spPr>
      </p:pic>
      <p:sp>
        <p:nvSpPr>
          <p:cNvPr id="134" name="Google Shape;134;p18"/>
          <p:cNvSpPr/>
          <p:nvPr/>
        </p:nvSpPr>
        <p:spPr>
          <a:xfrm>
            <a:off x="793790" y="6484620"/>
            <a:ext cx="2356842" cy="29468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272525"/>
              </a:buClr>
              <a:buSzPts val="1850"/>
              <a:buFont typeface="Inter"/>
              <a:buNone/>
            </a:pPr>
            <a:r>
              <a:rPr b="1" i="0" lang="en-US" sz="1850" u="none" cap="none" strike="noStrike">
                <a:solidFill>
                  <a:srgbClr val="272525"/>
                </a:solidFill>
                <a:latin typeface="Inter"/>
                <a:ea typeface="Inter"/>
                <a:cs typeface="Inter"/>
                <a:sym typeface="Inter"/>
              </a:rPr>
              <a:t>Motor Drivers</a:t>
            </a:r>
            <a:endParaRPr b="0" i="0" sz="1850" u="none" cap="none" strike="noStrike"/>
          </a:p>
        </p:txBody>
      </p:sp>
      <p:sp>
        <p:nvSpPr>
          <p:cNvPr id="135" name="Google Shape;135;p18"/>
          <p:cNvSpPr/>
          <p:nvPr/>
        </p:nvSpPr>
        <p:spPr>
          <a:xfrm>
            <a:off x="793790" y="6886694"/>
            <a:ext cx="6409492" cy="588407"/>
          </a:xfrm>
          <a:prstGeom prst="rect">
            <a:avLst/>
          </a:prstGeom>
          <a:noFill/>
          <a:ln>
            <a:noFill/>
          </a:ln>
        </p:spPr>
        <p:txBody>
          <a:bodyPr anchorCtr="0" anchor="t" bIns="0" lIns="0" spcFirstLastPara="1" rIns="0" wrap="square" tIns="0">
            <a:noAutofit/>
          </a:bodyPr>
          <a:lstStyle/>
          <a:p>
            <a:pPr indent="0" lvl="0" marL="0" marR="0" rtl="0" algn="l">
              <a:lnSpc>
                <a:spcPct val="158620"/>
              </a:lnSpc>
              <a:spcBef>
                <a:spcPts val="0"/>
              </a:spcBef>
              <a:spcAft>
                <a:spcPts val="0"/>
              </a:spcAft>
              <a:buClr>
                <a:srgbClr val="272525"/>
              </a:buClr>
              <a:buSzPts val="1450"/>
              <a:buFont typeface="Inter"/>
              <a:buNone/>
            </a:pPr>
            <a:r>
              <a:rPr b="0" i="0" lang="en-US" sz="1450" u="none" cap="none" strike="noStrike">
                <a:solidFill>
                  <a:srgbClr val="272525"/>
                </a:solidFill>
                <a:latin typeface="Inter"/>
                <a:ea typeface="Inter"/>
                <a:cs typeface="Inter"/>
                <a:sym typeface="Inter"/>
              </a:rPr>
              <a:t>Control wheel motors for autonomous movement and robotic arm/suction system for waste collection</a:t>
            </a:r>
            <a:endParaRPr b="0" i="0" sz="1450" u="none" cap="none" strike="noStrike"/>
          </a:p>
        </p:txBody>
      </p:sp>
      <p:pic>
        <p:nvPicPr>
          <p:cNvPr descr="preencoded.png" id="136" name="Google Shape;136;p18"/>
          <p:cNvPicPr preferRelativeResize="0"/>
          <p:nvPr/>
        </p:nvPicPr>
        <p:blipFill rotWithShape="1">
          <a:blip r:embed="rId8">
            <a:alphaModFix/>
          </a:blip>
          <a:srcRect b="0" l="0" r="0" t="0"/>
          <a:stretch/>
        </p:blipFill>
        <p:spPr>
          <a:xfrm>
            <a:off x="7427119" y="5789414"/>
            <a:ext cx="471368" cy="471368"/>
          </a:xfrm>
          <a:prstGeom prst="rect">
            <a:avLst/>
          </a:prstGeom>
          <a:noFill/>
          <a:ln>
            <a:noFill/>
          </a:ln>
        </p:spPr>
      </p:pic>
      <p:sp>
        <p:nvSpPr>
          <p:cNvPr id="137" name="Google Shape;137;p18"/>
          <p:cNvSpPr/>
          <p:nvPr/>
        </p:nvSpPr>
        <p:spPr>
          <a:xfrm>
            <a:off x="7427119" y="6484620"/>
            <a:ext cx="2356842" cy="29468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272525"/>
              </a:buClr>
              <a:buSzPts val="1850"/>
              <a:buFont typeface="Inter"/>
              <a:buNone/>
            </a:pPr>
            <a:r>
              <a:rPr b="1" i="0" lang="en-US" sz="1850" u="none" cap="none" strike="noStrike">
                <a:solidFill>
                  <a:srgbClr val="272525"/>
                </a:solidFill>
                <a:latin typeface="Inter"/>
                <a:ea typeface="Inter"/>
                <a:cs typeface="Inter"/>
                <a:sym typeface="Inter"/>
              </a:rPr>
              <a:t>Power System</a:t>
            </a:r>
            <a:endParaRPr b="0" i="0" sz="1850" u="none" cap="none" strike="noStrike"/>
          </a:p>
        </p:txBody>
      </p:sp>
      <p:sp>
        <p:nvSpPr>
          <p:cNvPr id="138" name="Google Shape;138;p18"/>
          <p:cNvSpPr/>
          <p:nvPr/>
        </p:nvSpPr>
        <p:spPr>
          <a:xfrm>
            <a:off x="7427119" y="6886694"/>
            <a:ext cx="6409492" cy="588407"/>
          </a:xfrm>
          <a:prstGeom prst="rect">
            <a:avLst/>
          </a:prstGeom>
          <a:noFill/>
          <a:ln>
            <a:noFill/>
          </a:ln>
        </p:spPr>
        <p:txBody>
          <a:bodyPr anchorCtr="0" anchor="t" bIns="0" lIns="0" spcFirstLastPara="1" rIns="0" wrap="square" tIns="0">
            <a:noAutofit/>
          </a:bodyPr>
          <a:lstStyle/>
          <a:p>
            <a:pPr indent="0" lvl="0" marL="0" marR="0" rtl="0" algn="l">
              <a:lnSpc>
                <a:spcPct val="158620"/>
              </a:lnSpc>
              <a:spcBef>
                <a:spcPts val="0"/>
              </a:spcBef>
              <a:spcAft>
                <a:spcPts val="0"/>
              </a:spcAft>
              <a:buClr>
                <a:srgbClr val="272525"/>
              </a:buClr>
              <a:buSzPts val="1450"/>
              <a:buFont typeface="Inter"/>
              <a:buNone/>
            </a:pPr>
            <a:r>
              <a:rPr b="0" i="0" lang="en-US" sz="1450" u="none" cap="none" strike="noStrike">
                <a:solidFill>
                  <a:srgbClr val="272525"/>
                </a:solidFill>
                <a:latin typeface="Inter"/>
                <a:ea typeface="Inter"/>
                <a:cs typeface="Inter"/>
                <a:sym typeface="Inter"/>
              </a:rPr>
              <a:t>Rechargeable battery pack provides extended night operation, with charging stations at municipal depots</a:t>
            </a:r>
            <a:endParaRPr b="0" i="0" sz="1450" u="none" cap="none" strike="noStrike"/>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9"/>
          <p:cNvSpPr/>
          <p:nvPr/>
        </p:nvSpPr>
        <p:spPr>
          <a:xfrm>
            <a:off x="793790" y="1341477"/>
            <a:ext cx="5425797" cy="620078"/>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000000"/>
              </a:buClr>
              <a:buSzPts val="3900"/>
              <a:buFont typeface="Inter"/>
              <a:buNone/>
            </a:pPr>
            <a:r>
              <a:rPr b="1" i="0" lang="en-US" sz="3900" u="none" cap="none" strike="noStrike">
                <a:solidFill>
                  <a:srgbClr val="000000"/>
                </a:solidFill>
                <a:latin typeface="Inter"/>
                <a:ea typeface="Inter"/>
                <a:cs typeface="Inter"/>
                <a:sym typeface="Inter"/>
              </a:rPr>
              <a:t>AI &amp; Machine Learning</a:t>
            </a:r>
            <a:endParaRPr b="0" i="0" sz="3900" u="none" cap="none" strike="noStrike"/>
          </a:p>
        </p:txBody>
      </p:sp>
      <p:sp>
        <p:nvSpPr>
          <p:cNvPr id="145" name="Google Shape;145;p19"/>
          <p:cNvSpPr/>
          <p:nvPr/>
        </p:nvSpPr>
        <p:spPr>
          <a:xfrm>
            <a:off x="793790" y="2457569"/>
            <a:ext cx="3060740"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000000"/>
              </a:buClr>
              <a:buSzPts val="1950"/>
              <a:buFont typeface="Inter"/>
              <a:buNone/>
            </a:pPr>
            <a:r>
              <a:rPr b="1" i="0" lang="en-US" sz="1950" u="none" cap="none" strike="noStrike">
                <a:solidFill>
                  <a:srgbClr val="000000"/>
                </a:solidFill>
                <a:latin typeface="Inter"/>
                <a:ea typeface="Inter"/>
                <a:cs typeface="Inter"/>
                <a:sym typeface="Inter"/>
              </a:rPr>
              <a:t>Computer Vision Pipeline</a:t>
            </a:r>
            <a:endParaRPr b="0" i="0" sz="1950" u="none" cap="none" strike="noStrike"/>
          </a:p>
        </p:txBody>
      </p:sp>
      <p:sp>
        <p:nvSpPr>
          <p:cNvPr id="146" name="Google Shape;146;p19"/>
          <p:cNvSpPr/>
          <p:nvPr/>
        </p:nvSpPr>
        <p:spPr>
          <a:xfrm>
            <a:off x="793790" y="2966085"/>
            <a:ext cx="7632025" cy="95261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72525"/>
              </a:buClr>
              <a:buSzPts val="1550"/>
              <a:buFont typeface="Inter"/>
              <a:buNone/>
            </a:pPr>
            <a:r>
              <a:rPr b="0" i="0" lang="en-US" sz="1550" u="none" cap="none" strike="noStrike">
                <a:solidFill>
                  <a:srgbClr val="272525"/>
                </a:solidFill>
                <a:latin typeface="Inter"/>
                <a:ea typeface="Inter"/>
                <a:cs typeface="Inter"/>
                <a:sym typeface="Inter"/>
              </a:rPr>
              <a:t>Our system employs a YOLO (You Only Look Once) or MobileNet architecture for real-time object detection. The model is trained on thousands of labeled images showing various types of street waste, from plastic bottles to food packaging.</a:t>
            </a:r>
            <a:endParaRPr b="0" i="0" sz="1550" u="none" cap="none" strike="noStrike"/>
          </a:p>
        </p:txBody>
      </p:sp>
      <p:sp>
        <p:nvSpPr>
          <p:cNvPr id="147" name="Google Shape;147;p19"/>
          <p:cNvSpPr/>
          <p:nvPr/>
        </p:nvSpPr>
        <p:spPr>
          <a:xfrm>
            <a:off x="793790" y="4097298"/>
            <a:ext cx="7632025" cy="95261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72525"/>
              </a:buClr>
              <a:buSzPts val="1550"/>
              <a:buFont typeface="Inter"/>
              <a:buNone/>
            </a:pPr>
            <a:r>
              <a:rPr b="0" i="0" lang="en-US" sz="1550" u="none" cap="none" strike="noStrike">
                <a:solidFill>
                  <a:srgbClr val="272525"/>
                </a:solidFill>
                <a:latin typeface="Inter"/>
                <a:ea typeface="Inter"/>
                <a:cs typeface="Inter"/>
                <a:sym typeface="Inter"/>
              </a:rPr>
              <a:t>During operation, the camera captures 30 frames per second, which are processed sequentially. Detected waste items are classified by type and size, with confidence scores above 85% triggering collection protocols.</a:t>
            </a:r>
            <a:endParaRPr b="0" i="0" sz="1550" u="none" cap="none" strike="noStrike"/>
          </a:p>
        </p:txBody>
      </p:sp>
      <p:sp>
        <p:nvSpPr>
          <p:cNvPr id="148" name="Google Shape;148;p19"/>
          <p:cNvSpPr/>
          <p:nvPr/>
        </p:nvSpPr>
        <p:spPr>
          <a:xfrm>
            <a:off x="793790" y="5248275"/>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000000"/>
              </a:buClr>
              <a:buSzPts val="1950"/>
              <a:buFont typeface="Inter"/>
              <a:buNone/>
            </a:pPr>
            <a:r>
              <a:rPr b="1" i="0" lang="en-US" sz="1950" u="none" cap="none" strike="noStrike">
                <a:solidFill>
                  <a:srgbClr val="000000"/>
                </a:solidFill>
                <a:latin typeface="Inter"/>
                <a:ea typeface="Inter"/>
                <a:cs typeface="Inter"/>
                <a:sym typeface="Inter"/>
              </a:rPr>
              <a:t>Route Optimization</a:t>
            </a:r>
            <a:endParaRPr b="0" i="0" sz="1950" u="none" cap="none" strike="noStrike"/>
          </a:p>
        </p:txBody>
      </p:sp>
      <p:sp>
        <p:nvSpPr>
          <p:cNvPr id="149" name="Google Shape;149;p19"/>
          <p:cNvSpPr/>
          <p:nvPr/>
        </p:nvSpPr>
        <p:spPr>
          <a:xfrm>
            <a:off x="793790" y="5756791"/>
            <a:ext cx="7632025" cy="95261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72525"/>
              </a:buClr>
              <a:buSzPts val="1550"/>
              <a:buFont typeface="Inter"/>
              <a:buNone/>
            </a:pPr>
            <a:r>
              <a:rPr b="0" i="0" lang="en-US" sz="1550" u="none" cap="none" strike="noStrike">
                <a:solidFill>
                  <a:srgbClr val="272525"/>
                </a:solidFill>
                <a:latin typeface="Inter"/>
                <a:ea typeface="Inter"/>
                <a:cs typeface="Inter"/>
                <a:sym typeface="Inter"/>
              </a:rPr>
              <a:t>Citizen reports and historical data feed into a reinforcement learning algorithm that continuously improves cleaning routes. The system prioritizes high-density waste areas while minimizing travel distance and energy consumption.</a:t>
            </a:r>
            <a:endParaRPr b="0" i="0" sz="1550" u="none" cap="none" strike="noStrike"/>
          </a:p>
        </p:txBody>
      </p:sp>
      <p:pic>
        <p:nvPicPr>
          <p:cNvPr descr="preencoded.png" id="150" name="Google Shape;150;p19"/>
          <p:cNvPicPr preferRelativeResize="0"/>
          <p:nvPr/>
        </p:nvPicPr>
        <p:blipFill rotWithShape="1">
          <a:blip r:embed="rId3">
            <a:alphaModFix/>
          </a:blip>
          <a:srcRect b="0" l="0" r="0" t="0"/>
          <a:stretch/>
        </p:blipFill>
        <p:spPr>
          <a:xfrm>
            <a:off x="8917543" y="2482453"/>
            <a:ext cx="4926568" cy="2771537"/>
          </a:xfrm>
          <a:prstGeom prst="rect">
            <a:avLst/>
          </a:prstGeom>
          <a:noFill/>
          <a:ln>
            <a:noFill/>
          </a:ln>
        </p:spPr>
      </p:pic>
      <p:sp>
        <p:nvSpPr>
          <p:cNvPr id="151" name="Google Shape;151;p19"/>
          <p:cNvSpPr/>
          <p:nvPr/>
        </p:nvSpPr>
        <p:spPr>
          <a:xfrm>
            <a:off x="8917543" y="5477232"/>
            <a:ext cx="4926568" cy="31754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SzPts val="1550"/>
              <a:buFont typeface="Arial"/>
              <a:buNone/>
            </a:pPr>
            <a:r>
              <a:t/>
            </a:r>
            <a:endParaRPr b="0" i="0" sz="1550" u="none" cap="none" strike="noStrike"/>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0"/>
          <p:cNvSpPr/>
          <p:nvPr/>
        </p:nvSpPr>
        <p:spPr>
          <a:xfrm>
            <a:off x="793790" y="1564362"/>
            <a:ext cx="6373058" cy="620078"/>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000000"/>
              </a:buClr>
              <a:buSzPts val="3900"/>
              <a:buFont typeface="Inter"/>
              <a:buNone/>
            </a:pPr>
            <a:r>
              <a:rPr b="1" i="0" lang="en-US" sz="3900" u="none" cap="none" strike="noStrike">
                <a:solidFill>
                  <a:srgbClr val="000000"/>
                </a:solidFill>
                <a:latin typeface="Inter"/>
                <a:ea typeface="Inter"/>
                <a:cs typeface="Inter"/>
                <a:sym typeface="Inter"/>
              </a:rPr>
              <a:t>Citizen Reporting Platform</a:t>
            </a:r>
            <a:endParaRPr b="0" i="0" sz="3900" u="none" cap="none" strike="noStrike"/>
          </a:p>
        </p:txBody>
      </p:sp>
      <p:sp>
        <p:nvSpPr>
          <p:cNvPr id="158" name="Google Shape;158;p20"/>
          <p:cNvSpPr/>
          <p:nvPr/>
        </p:nvSpPr>
        <p:spPr>
          <a:xfrm>
            <a:off x="793810" y="2581275"/>
            <a:ext cx="401100" cy="2481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72525"/>
              </a:buClr>
              <a:buSzPts val="1550"/>
              <a:buFont typeface="Inter"/>
              <a:buNone/>
            </a:pPr>
            <a:r>
              <a:rPr b="0" i="0" lang="en-US" sz="1550" u="none" cap="none" strike="noStrike">
                <a:solidFill>
                  <a:srgbClr val="272525"/>
                </a:solidFill>
                <a:latin typeface="Inter"/>
                <a:ea typeface="Inter"/>
                <a:cs typeface="Inter"/>
                <a:sym typeface="Inter"/>
              </a:rPr>
              <a:t>01</a:t>
            </a:r>
            <a:endParaRPr b="0" i="0" sz="1550" u="none" cap="none" strike="noStrike"/>
          </a:p>
        </p:txBody>
      </p:sp>
      <p:sp>
        <p:nvSpPr>
          <p:cNvPr id="159" name="Google Shape;159;p20"/>
          <p:cNvSpPr/>
          <p:nvPr/>
        </p:nvSpPr>
        <p:spPr>
          <a:xfrm>
            <a:off x="793790" y="2895600"/>
            <a:ext cx="4215289" cy="22860"/>
          </a:xfrm>
          <a:prstGeom prst="rect">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0"/>
          <p:cNvSpPr/>
          <p:nvPr/>
        </p:nvSpPr>
        <p:spPr>
          <a:xfrm>
            <a:off x="793790" y="3040499"/>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272525"/>
              </a:buClr>
              <a:buSzPts val="1950"/>
              <a:buFont typeface="Inter"/>
              <a:buNone/>
            </a:pPr>
            <a:r>
              <a:rPr b="1" i="0" lang="en-US" sz="1950" u="none" cap="none" strike="noStrike">
                <a:solidFill>
                  <a:srgbClr val="272525"/>
                </a:solidFill>
                <a:latin typeface="Inter"/>
                <a:ea typeface="Inter"/>
                <a:cs typeface="Inter"/>
                <a:sym typeface="Inter"/>
              </a:rPr>
              <a:t>Photo Capture</a:t>
            </a:r>
            <a:endParaRPr b="0" i="0" sz="1950" u="none" cap="none" strike="noStrike"/>
          </a:p>
        </p:txBody>
      </p:sp>
      <p:sp>
        <p:nvSpPr>
          <p:cNvPr id="161" name="Google Shape;161;p20"/>
          <p:cNvSpPr/>
          <p:nvPr/>
        </p:nvSpPr>
        <p:spPr>
          <a:xfrm>
            <a:off x="793790" y="3469719"/>
            <a:ext cx="4215289"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72525"/>
              </a:buClr>
              <a:buSzPts val="1550"/>
              <a:buFont typeface="Inter"/>
              <a:buNone/>
            </a:pPr>
            <a:r>
              <a:rPr b="0" i="0" lang="en-US" sz="1550" u="none" cap="none" strike="noStrike">
                <a:solidFill>
                  <a:srgbClr val="272525"/>
                </a:solidFill>
                <a:latin typeface="Inter"/>
                <a:ea typeface="Inter"/>
                <a:cs typeface="Inter"/>
                <a:sym typeface="Inter"/>
              </a:rPr>
              <a:t>Users take picture of waste location using smartphone camera</a:t>
            </a:r>
            <a:endParaRPr b="0" i="0" sz="1550" u="none" cap="none" strike="noStrike"/>
          </a:p>
        </p:txBody>
      </p:sp>
      <p:sp>
        <p:nvSpPr>
          <p:cNvPr id="162" name="Google Shape;162;p20"/>
          <p:cNvSpPr/>
          <p:nvPr/>
        </p:nvSpPr>
        <p:spPr>
          <a:xfrm>
            <a:off x="5207396" y="2581275"/>
            <a:ext cx="670800" cy="2481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72525"/>
              </a:buClr>
              <a:buSzPts val="1550"/>
              <a:buFont typeface="Inter"/>
              <a:buNone/>
            </a:pPr>
            <a:r>
              <a:rPr b="0" i="0" lang="en-US" sz="1550" u="none" cap="none" strike="noStrike">
                <a:solidFill>
                  <a:srgbClr val="272525"/>
                </a:solidFill>
                <a:latin typeface="Inter"/>
                <a:ea typeface="Inter"/>
                <a:cs typeface="Inter"/>
                <a:sym typeface="Inter"/>
              </a:rPr>
              <a:t>02</a:t>
            </a:r>
            <a:endParaRPr b="0" i="0" sz="1550" u="none" cap="none" strike="noStrike"/>
          </a:p>
        </p:txBody>
      </p:sp>
      <p:sp>
        <p:nvSpPr>
          <p:cNvPr id="163" name="Google Shape;163;p20"/>
          <p:cNvSpPr/>
          <p:nvPr/>
        </p:nvSpPr>
        <p:spPr>
          <a:xfrm>
            <a:off x="5207437" y="2895600"/>
            <a:ext cx="4215408" cy="22860"/>
          </a:xfrm>
          <a:prstGeom prst="rect">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20"/>
          <p:cNvSpPr/>
          <p:nvPr/>
        </p:nvSpPr>
        <p:spPr>
          <a:xfrm>
            <a:off x="5207437" y="3040499"/>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272525"/>
              </a:buClr>
              <a:buSzPts val="1950"/>
              <a:buFont typeface="Inter"/>
              <a:buNone/>
            </a:pPr>
            <a:r>
              <a:rPr b="1" i="0" lang="en-US" sz="1950" u="none" cap="none" strike="noStrike">
                <a:solidFill>
                  <a:srgbClr val="272525"/>
                </a:solidFill>
                <a:latin typeface="Inter"/>
                <a:ea typeface="Inter"/>
                <a:cs typeface="Inter"/>
                <a:sym typeface="Inter"/>
              </a:rPr>
              <a:t>Location Tagging</a:t>
            </a:r>
            <a:endParaRPr b="0" i="0" sz="1950" u="none" cap="none" strike="noStrike"/>
          </a:p>
        </p:txBody>
      </p:sp>
      <p:sp>
        <p:nvSpPr>
          <p:cNvPr id="165" name="Google Shape;165;p20"/>
          <p:cNvSpPr/>
          <p:nvPr/>
        </p:nvSpPr>
        <p:spPr>
          <a:xfrm>
            <a:off x="5207437" y="3469719"/>
            <a:ext cx="4215408"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72525"/>
              </a:buClr>
              <a:buSzPts val="1550"/>
              <a:buFont typeface="Inter"/>
              <a:buNone/>
            </a:pPr>
            <a:r>
              <a:rPr b="0" i="0" lang="en-US" sz="1550" u="none" cap="none" strike="noStrike">
                <a:solidFill>
                  <a:srgbClr val="272525"/>
                </a:solidFill>
                <a:latin typeface="Inter"/>
                <a:ea typeface="Inter"/>
                <a:cs typeface="Inter"/>
                <a:sym typeface="Inter"/>
              </a:rPr>
              <a:t>GPS automatically marks coordinates where photo was taken</a:t>
            </a:r>
            <a:endParaRPr b="0" i="0" sz="1550" u="none" cap="none" strike="noStrike"/>
          </a:p>
        </p:txBody>
      </p:sp>
      <p:sp>
        <p:nvSpPr>
          <p:cNvPr id="166" name="Google Shape;166;p20"/>
          <p:cNvSpPr/>
          <p:nvPr/>
        </p:nvSpPr>
        <p:spPr>
          <a:xfrm>
            <a:off x="9621194" y="2581275"/>
            <a:ext cx="670800" cy="2481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72525"/>
              </a:buClr>
              <a:buSzPts val="1550"/>
              <a:buFont typeface="Inter"/>
              <a:buNone/>
            </a:pPr>
            <a:r>
              <a:rPr b="0" i="0" lang="en-US" sz="1550" u="none" cap="none" strike="noStrike">
                <a:solidFill>
                  <a:srgbClr val="272525"/>
                </a:solidFill>
                <a:latin typeface="Inter"/>
                <a:ea typeface="Inter"/>
                <a:cs typeface="Inter"/>
                <a:sym typeface="Inter"/>
              </a:rPr>
              <a:t>03</a:t>
            </a:r>
            <a:endParaRPr b="0" i="0" sz="1550" u="none" cap="none" strike="noStrike"/>
          </a:p>
        </p:txBody>
      </p:sp>
      <p:sp>
        <p:nvSpPr>
          <p:cNvPr id="167" name="Google Shape;167;p20"/>
          <p:cNvSpPr/>
          <p:nvPr/>
        </p:nvSpPr>
        <p:spPr>
          <a:xfrm>
            <a:off x="9621203" y="2895600"/>
            <a:ext cx="4215289" cy="22860"/>
          </a:xfrm>
          <a:prstGeom prst="rect">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0"/>
          <p:cNvSpPr/>
          <p:nvPr/>
        </p:nvSpPr>
        <p:spPr>
          <a:xfrm>
            <a:off x="9621203" y="3040499"/>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272525"/>
              </a:buClr>
              <a:buSzPts val="1950"/>
              <a:buFont typeface="Inter"/>
              <a:buNone/>
            </a:pPr>
            <a:r>
              <a:rPr b="1" i="0" lang="en-US" sz="1950" u="none" cap="none" strike="noStrike">
                <a:solidFill>
                  <a:srgbClr val="272525"/>
                </a:solidFill>
                <a:latin typeface="Inter"/>
                <a:ea typeface="Inter"/>
                <a:cs typeface="Inter"/>
                <a:sym typeface="Inter"/>
              </a:rPr>
              <a:t>AI Verification</a:t>
            </a:r>
            <a:endParaRPr b="0" i="0" sz="1950" u="none" cap="none" strike="noStrike"/>
          </a:p>
        </p:txBody>
      </p:sp>
      <p:sp>
        <p:nvSpPr>
          <p:cNvPr id="169" name="Google Shape;169;p20"/>
          <p:cNvSpPr/>
          <p:nvPr/>
        </p:nvSpPr>
        <p:spPr>
          <a:xfrm>
            <a:off x="9621203" y="3469719"/>
            <a:ext cx="4215289"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72525"/>
              </a:buClr>
              <a:buSzPts val="1550"/>
              <a:buFont typeface="Inter"/>
              <a:buNone/>
            </a:pPr>
            <a:r>
              <a:rPr b="0" i="0" lang="en-US" sz="1550" u="none" cap="none" strike="noStrike">
                <a:solidFill>
                  <a:srgbClr val="272525"/>
                </a:solidFill>
                <a:latin typeface="Inter"/>
                <a:ea typeface="Inter"/>
                <a:cs typeface="Inter"/>
                <a:sym typeface="Inter"/>
              </a:rPr>
              <a:t>System validates waste type and seriousness before accepting report</a:t>
            </a:r>
            <a:endParaRPr b="0" i="0" sz="1550" u="none" cap="none" strike="noStrike"/>
          </a:p>
        </p:txBody>
      </p:sp>
      <p:sp>
        <p:nvSpPr>
          <p:cNvPr id="170" name="Google Shape;170;p20"/>
          <p:cNvSpPr/>
          <p:nvPr/>
        </p:nvSpPr>
        <p:spPr>
          <a:xfrm>
            <a:off x="793821" y="4451975"/>
            <a:ext cx="670800" cy="2481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72525"/>
              </a:buClr>
              <a:buSzPts val="1550"/>
              <a:buFont typeface="Inter"/>
              <a:buNone/>
            </a:pPr>
            <a:r>
              <a:rPr b="0" i="0" lang="en-US" sz="1550" u="none" cap="none" strike="noStrike">
                <a:solidFill>
                  <a:srgbClr val="272525"/>
                </a:solidFill>
                <a:latin typeface="Inter"/>
                <a:ea typeface="Inter"/>
                <a:cs typeface="Inter"/>
                <a:sym typeface="Inter"/>
              </a:rPr>
              <a:t>04</a:t>
            </a:r>
            <a:endParaRPr b="0" i="0" sz="1550" u="none" cap="none" strike="noStrike"/>
          </a:p>
        </p:txBody>
      </p:sp>
      <p:sp>
        <p:nvSpPr>
          <p:cNvPr id="171" name="Google Shape;171;p20"/>
          <p:cNvSpPr/>
          <p:nvPr/>
        </p:nvSpPr>
        <p:spPr>
          <a:xfrm>
            <a:off x="793790" y="4766310"/>
            <a:ext cx="6422112" cy="22860"/>
          </a:xfrm>
          <a:prstGeom prst="rect">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0"/>
          <p:cNvSpPr/>
          <p:nvPr/>
        </p:nvSpPr>
        <p:spPr>
          <a:xfrm>
            <a:off x="793790" y="4911209"/>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272525"/>
              </a:buClr>
              <a:buSzPts val="1950"/>
              <a:buFont typeface="Inter"/>
              <a:buNone/>
            </a:pPr>
            <a:r>
              <a:rPr b="1" i="0" lang="en-US" sz="1950" u="none" cap="none" strike="noStrike">
                <a:solidFill>
                  <a:srgbClr val="272525"/>
                </a:solidFill>
                <a:latin typeface="Inter"/>
                <a:ea typeface="Inter"/>
                <a:cs typeface="Inter"/>
                <a:sym typeface="Inter"/>
              </a:rPr>
              <a:t>Route Integration</a:t>
            </a:r>
            <a:endParaRPr b="0" i="0" sz="1950" u="none" cap="none" strike="noStrike"/>
          </a:p>
        </p:txBody>
      </p:sp>
      <p:sp>
        <p:nvSpPr>
          <p:cNvPr id="173" name="Google Shape;173;p20"/>
          <p:cNvSpPr/>
          <p:nvPr/>
        </p:nvSpPr>
        <p:spPr>
          <a:xfrm>
            <a:off x="793790" y="5340429"/>
            <a:ext cx="6422112" cy="31754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72525"/>
              </a:buClr>
              <a:buSzPts val="1550"/>
              <a:buFont typeface="Inter"/>
              <a:buNone/>
            </a:pPr>
            <a:r>
              <a:rPr b="0" i="0" lang="en-US" sz="1550" u="none" cap="none" strike="noStrike">
                <a:solidFill>
                  <a:srgbClr val="272525"/>
                </a:solidFill>
                <a:latin typeface="Inter"/>
                <a:ea typeface="Inter"/>
                <a:cs typeface="Inter"/>
                <a:sym typeface="Inter"/>
              </a:rPr>
              <a:t>Verified reports update cleaning routes for next night's patrol</a:t>
            </a:r>
            <a:endParaRPr b="0" i="0" sz="1550" u="none" cap="none" strike="noStrike"/>
          </a:p>
        </p:txBody>
      </p:sp>
      <p:sp>
        <p:nvSpPr>
          <p:cNvPr id="174" name="Google Shape;174;p20"/>
          <p:cNvSpPr/>
          <p:nvPr/>
        </p:nvSpPr>
        <p:spPr>
          <a:xfrm>
            <a:off x="7414235" y="4451975"/>
            <a:ext cx="487800" cy="2481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72525"/>
              </a:buClr>
              <a:buSzPts val="1550"/>
              <a:buFont typeface="Inter"/>
              <a:buNone/>
            </a:pPr>
            <a:r>
              <a:rPr b="0" i="0" lang="en-US" sz="1550" u="none" cap="none" strike="noStrike">
                <a:solidFill>
                  <a:srgbClr val="272525"/>
                </a:solidFill>
                <a:latin typeface="Inter"/>
                <a:ea typeface="Inter"/>
                <a:cs typeface="Inter"/>
                <a:sym typeface="Inter"/>
              </a:rPr>
              <a:t>05</a:t>
            </a:r>
            <a:endParaRPr b="0" i="0" sz="1550" u="none" cap="none" strike="noStrike"/>
          </a:p>
        </p:txBody>
      </p:sp>
      <p:sp>
        <p:nvSpPr>
          <p:cNvPr id="175" name="Google Shape;175;p20"/>
          <p:cNvSpPr/>
          <p:nvPr/>
        </p:nvSpPr>
        <p:spPr>
          <a:xfrm>
            <a:off x="7414260" y="4766310"/>
            <a:ext cx="6422231" cy="22860"/>
          </a:xfrm>
          <a:prstGeom prst="rect">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20"/>
          <p:cNvSpPr/>
          <p:nvPr/>
        </p:nvSpPr>
        <p:spPr>
          <a:xfrm>
            <a:off x="7414260" y="4911209"/>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272525"/>
              </a:buClr>
              <a:buSzPts val="1950"/>
              <a:buFont typeface="Inter"/>
              <a:buNone/>
            </a:pPr>
            <a:r>
              <a:rPr b="1" i="0" lang="en-US" sz="1950" u="none" cap="none" strike="noStrike">
                <a:solidFill>
                  <a:srgbClr val="272525"/>
                </a:solidFill>
                <a:latin typeface="Inter"/>
                <a:ea typeface="Inter"/>
                <a:cs typeface="Inter"/>
                <a:sym typeface="Inter"/>
              </a:rPr>
              <a:t>Status Updates</a:t>
            </a:r>
            <a:endParaRPr b="0" i="0" sz="1950" u="none" cap="none" strike="noStrike"/>
          </a:p>
        </p:txBody>
      </p:sp>
      <p:sp>
        <p:nvSpPr>
          <p:cNvPr id="177" name="Google Shape;177;p20"/>
          <p:cNvSpPr/>
          <p:nvPr/>
        </p:nvSpPr>
        <p:spPr>
          <a:xfrm>
            <a:off x="7414260" y="5340429"/>
            <a:ext cx="6422231" cy="31754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72525"/>
              </a:buClr>
              <a:buSzPts val="1550"/>
              <a:buFont typeface="Inter"/>
              <a:buNone/>
            </a:pPr>
            <a:r>
              <a:rPr b="0" i="0" lang="en-US" sz="1550" u="none" cap="none" strike="noStrike">
                <a:solidFill>
                  <a:srgbClr val="272525"/>
                </a:solidFill>
                <a:latin typeface="Inter"/>
                <a:ea typeface="Inter"/>
                <a:cs typeface="Inter"/>
                <a:sym typeface="Inter"/>
              </a:rPr>
              <a:t>Users receive notifications when their reported area is cleaned</a:t>
            </a:r>
            <a:endParaRPr b="0" i="0" sz="1550" u="none" cap="none" strike="noStrike"/>
          </a:p>
        </p:txBody>
      </p:sp>
      <p:sp>
        <p:nvSpPr>
          <p:cNvPr id="178" name="Google Shape;178;p20"/>
          <p:cNvSpPr/>
          <p:nvPr/>
        </p:nvSpPr>
        <p:spPr>
          <a:xfrm>
            <a:off x="793790" y="6030039"/>
            <a:ext cx="13042821"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72525"/>
              </a:buClr>
              <a:buSzPts val="1550"/>
              <a:buFont typeface="Inter"/>
              <a:buNone/>
            </a:pPr>
            <a:r>
              <a:rPr b="0" i="0" lang="en-US" sz="1550" u="none" cap="none" strike="noStrike">
                <a:solidFill>
                  <a:srgbClr val="272525"/>
                </a:solidFill>
                <a:latin typeface="Inter"/>
                <a:ea typeface="Inter"/>
                <a:cs typeface="Inter"/>
                <a:sym typeface="Inter"/>
              </a:rPr>
              <a:t>The web platform provides municipalities with a comprehensive heatmap dashboard showing waste concentration patterns, complaint resolution rates, and collection efficiency metrics.</a:t>
            </a:r>
            <a:endParaRPr b="0" i="0" sz="1550" u="none" cap="none" strike="noStrike"/>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1"/>
          <p:cNvSpPr/>
          <p:nvPr/>
        </p:nvSpPr>
        <p:spPr>
          <a:xfrm>
            <a:off x="793790" y="1237536"/>
            <a:ext cx="4961811" cy="620078"/>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000000"/>
              </a:buClr>
              <a:buSzPts val="3900"/>
              <a:buFont typeface="Inter"/>
              <a:buNone/>
            </a:pPr>
            <a:r>
              <a:rPr b="1" i="0" lang="en-US" sz="3900" u="none" cap="none" strike="noStrike">
                <a:solidFill>
                  <a:srgbClr val="000000"/>
                </a:solidFill>
                <a:latin typeface="Inter"/>
                <a:ea typeface="Inter"/>
                <a:cs typeface="Inter"/>
                <a:sym typeface="Inter"/>
              </a:rPr>
              <a:t>System Workflow</a:t>
            </a:r>
            <a:endParaRPr b="0" i="0" sz="3900" u="none" cap="none" strike="noStrike"/>
          </a:p>
        </p:txBody>
      </p:sp>
      <p:pic>
        <p:nvPicPr>
          <p:cNvPr descr="preencoded.png" id="185" name="Google Shape;185;p21"/>
          <p:cNvPicPr preferRelativeResize="0"/>
          <p:nvPr/>
        </p:nvPicPr>
        <p:blipFill rotWithShape="1">
          <a:blip r:embed="rId3">
            <a:alphaModFix/>
          </a:blip>
          <a:srcRect b="0" l="0" r="0" t="0"/>
          <a:stretch/>
        </p:blipFill>
        <p:spPr>
          <a:xfrm>
            <a:off x="1002625" y="2254448"/>
            <a:ext cx="12625030" cy="4737497"/>
          </a:xfrm>
          <a:prstGeom prst="rect">
            <a:avLst/>
          </a:prstGeom>
          <a:noFill/>
          <a:ln>
            <a:noFill/>
          </a:ln>
        </p:spPr>
      </p:pic>
      <p:pic>
        <p:nvPicPr>
          <p:cNvPr descr="preencoded.png" id="186" name="Google Shape;186;p21"/>
          <p:cNvPicPr preferRelativeResize="0"/>
          <p:nvPr/>
        </p:nvPicPr>
        <p:blipFill rotWithShape="1">
          <a:blip r:embed="rId4">
            <a:alphaModFix/>
          </a:blip>
          <a:srcRect b="0" l="0" r="0" t="0"/>
          <a:stretch/>
        </p:blipFill>
        <p:spPr>
          <a:xfrm>
            <a:off x="11784546" y="3461174"/>
            <a:ext cx="652135" cy="652135"/>
          </a:xfrm>
          <a:prstGeom prst="rect">
            <a:avLst/>
          </a:prstGeom>
          <a:noFill/>
          <a:ln>
            <a:noFill/>
          </a:ln>
        </p:spPr>
      </p:pic>
      <p:sp>
        <p:nvSpPr>
          <p:cNvPr id="187" name="Google Shape;187;p21"/>
          <p:cNvSpPr/>
          <p:nvPr/>
        </p:nvSpPr>
        <p:spPr>
          <a:xfrm>
            <a:off x="11203535" y="5658461"/>
            <a:ext cx="1904234" cy="733652"/>
          </a:xfrm>
          <a:prstGeom prst="rect">
            <a:avLst/>
          </a:prstGeom>
          <a:noFill/>
          <a:ln>
            <a:noFill/>
          </a:ln>
        </p:spPr>
        <p:txBody>
          <a:bodyPr anchorCtr="0" anchor="t" bIns="0" lIns="0" spcFirstLastPara="1" rIns="0" wrap="square" tIns="0">
            <a:noAutofit/>
          </a:bodyPr>
          <a:lstStyle/>
          <a:p>
            <a:pPr indent="0" lvl="0" marL="0" marR="0" rtl="0" algn="ctr">
              <a:lnSpc>
                <a:spcPct val="123913"/>
              </a:lnSpc>
              <a:spcBef>
                <a:spcPts val="0"/>
              </a:spcBef>
              <a:spcAft>
                <a:spcPts val="0"/>
              </a:spcAft>
              <a:buClr>
                <a:srgbClr val="272525"/>
              </a:buClr>
              <a:buSzPts val="2300"/>
              <a:buFont typeface="Inter"/>
              <a:buNone/>
            </a:pPr>
            <a:r>
              <a:rPr b="1" i="0" lang="en-US" sz="2300" u="none" cap="none" strike="noStrike">
                <a:solidFill>
                  <a:srgbClr val="272525"/>
                </a:solidFill>
                <a:latin typeface="Inter"/>
                <a:ea typeface="Inter"/>
                <a:cs typeface="Inter"/>
                <a:sym typeface="Inter"/>
              </a:rPr>
              <a:t>Update Dashboard</a:t>
            </a:r>
            <a:endParaRPr b="0" i="0" sz="2300" u="none" cap="none" strike="noStrike"/>
          </a:p>
        </p:txBody>
      </p:sp>
      <p:pic>
        <p:nvPicPr>
          <p:cNvPr descr="preencoded.png" id="188" name="Google Shape;188;p21"/>
          <p:cNvPicPr preferRelativeResize="0"/>
          <p:nvPr/>
        </p:nvPicPr>
        <p:blipFill rotWithShape="1">
          <a:blip r:embed="rId5">
            <a:alphaModFix/>
          </a:blip>
          <a:srcRect b="0" l="0" r="0" t="0"/>
          <a:stretch/>
        </p:blipFill>
        <p:spPr>
          <a:xfrm>
            <a:off x="9397120" y="3462397"/>
            <a:ext cx="652135" cy="652135"/>
          </a:xfrm>
          <a:prstGeom prst="rect">
            <a:avLst/>
          </a:prstGeom>
          <a:noFill/>
          <a:ln>
            <a:noFill/>
          </a:ln>
        </p:spPr>
      </p:pic>
      <p:sp>
        <p:nvSpPr>
          <p:cNvPr id="189" name="Google Shape;189;p21"/>
          <p:cNvSpPr/>
          <p:nvPr/>
        </p:nvSpPr>
        <p:spPr>
          <a:xfrm>
            <a:off x="8803678" y="5658461"/>
            <a:ext cx="1904234" cy="733652"/>
          </a:xfrm>
          <a:prstGeom prst="rect">
            <a:avLst/>
          </a:prstGeom>
          <a:noFill/>
          <a:ln>
            <a:noFill/>
          </a:ln>
        </p:spPr>
        <p:txBody>
          <a:bodyPr anchorCtr="0" anchor="t" bIns="0" lIns="0" spcFirstLastPara="1" rIns="0" wrap="square" tIns="0">
            <a:noAutofit/>
          </a:bodyPr>
          <a:lstStyle/>
          <a:p>
            <a:pPr indent="0" lvl="0" marL="0" marR="0" rtl="0" algn="ctr">
              <a:lnSpc>
                <a:spcPct val="123913"/>
              </a:lnSpc>
              <a:spcBef>
                <a:spcPts val="0"/>
              </a:spcBef>
              <a:spcAft>
                <a:spcPts val="0"/>
              </a:spcAft>
              <a:buClr>
                <a:srgbClr val="272525"/>
              </a:buClr>
              <a:buSzPts val="2300"/>
              <a:buFont typeface="Inter"/>
              <a:buNone/>
            </a:pPr>
            <a:r>
              <a:rPr b="1" i="0" lang="en-US" sz="2300" u="none" cap="none" strike="noStrike">
                <a:solidFill>
                  <a:srgbClr val="272525"/>
                </a:solidFill>
                <a:latin typeface="Inter"/>
                <a:ea typeface="Inter"/>
                <a:cs typeface="Inter"/>
                <a:sym typeface="Inter"/>
              </a:rPr>
              <a:t>Autonomous Clean</a:t>
            </a:r>
            <a:endParaRPr b="0" i="0" sz="2300" u="none" cap="none" strike="noStrike"/>
          </a:p>
        </p:txBody>
      </p:sp>
      <p:pic>
        <p:nvPicPr>
          <p:cNvPr descr="preencoded.png" id="190" name="Google Shape;190;p21"/>
          <p:cNvPicPr preferRelativeResize="0"/>
          <p:nvPr/>
        </p:nvPicPr>
        <p:blipFill rotWithShape="1">
          <a:blip r:embed="rId6">
            <a:alphaModFix/>
          </a:blip>
          <a:srcRect b="0" l="0" r="0" t="0"/>
          <a:stretch/>
        </p:blipFill>
        <p:spPr>
          <a:xfrm>
            <a:off x="7010307" y="3462397"/>
            <a:ext cx="652135" cy="652135"/>
          </a:xfrm>
          <a:prstGeom prst="rect">
            <a:avLst/>
          </a:prstGeom>
          <a:noFill/>
          <a:ln>
            <a:noFill/>
          </a:ln>
        </p:spPr>
      </p:pic>
      <p:sp>
        <p:nvSpPr>
          <p:cNvPr id="191" name="Google Shape;191;p21"/>
          <p:cNvSpPr/>
          <p:nvPr/>
        </p:nvSpPr>
        <p:spPr>
          <a:xfrm>
            <a:off x="6416864" y="5658461"/>
            <a:ext cx="1904234" cy="733652"/>
          </a:xfrm>
          <a:prstGeom prst="rect">
            <a:avLst/>
          </a:prstGeom>
          <a:noFill/>
          <a:ln>
            <a:noFill/>
          </a:ln>
        </p:spPr>
        <p:txBody>
          <a:bodyPr anchorCtr="0" anchor="t" bIns="0" lIns="0" spcFirstLastPara="1" rIns="0" wrap="square" tIns="0">
            <a:noAutofit/>
          </a:bodyPr>
          <a:lstStyle/>
          <a:p>
            <a:pPr indent="0" lvl="0" marL="0" marR="0" rtl="0" algn="ctr">
              <a:lnSpc>
                <a:spcPct val="123913"/>
              </a:lnSpc>
              <a:spcBef>
                <a:spcPts val="0"/>
              </a:spcBef>
              <a:spcAft>
                <a:spcPts val="0"/>
              </a:spcAft>
              <a:buClr>
                <a:srgbClr val="272525"/>
              </a:buClr>
              <a:buSzPts val="2300"/>
              <a:buFont typeface="Inter"/>
              <a:buNone/>
            </a:pPr>
            <a:r>
              <a:rPr b="1" i="0" lang="en-US" sz="2300" u="none" cap="none" strike="noStrike">
                <a:solidFill>
                  <a:srgbClr val="272525"/>
                </a:solidFill>
                <a:latin typeface="Inter"/>
                <a:ea typeface="Inter"/>
                <a:cs typeface="Inter"/>
                <a:sym typeface="Inter"/>
              </a:rPr>
              <a:t>Optimize Route</a:t>
            </a:r>
            <a:endParaRPr b="0" i="0" sz="2300" u="none" cap="none" strike="noStrike"/>
          </a:p>
        </p:txBody>
      </p:sp>
      <p:pic>
        <p:nvPicPr>
          <p:cNvPr descr="preencoded.png" id="192" name="Google Shape;192;p21"/>
          <p:cNvPicPr preferRelativeResize="0"/>
          <p:nvPr/>
        </p:nvPicPr>
        <p:blipFill rotWithShape="1">
          <a:blip r:embed="rId7">
            <a:alphaModFix/>
          </a:blip>
          <a:srcRect b="0" l="0" r="0" t="0"/>
          <a:stretch/>
        </p:blipFill>
        <p:spPr>
          <a:xfrm>
            <a:off x="4623493" y="3462397"/>
            <a:ext cx="652135" cy="652135"/>
          </a:xfrm>
          <a:prstGeom prst="rect">
            <a:avLst/>
          </a:prstGeom>
          <a:noFill/>
          <a:ln>
            <a:noFill/>
          </a:ln>
        </p:spPr>
      </p:pic>
      <p:sp>
        <p:nvSpPr>
          <p:cNvPr id="193" name="Google Shape;193;p21"/>
          <p:cNvSpPr/>
          <p:nvPr/>
        </p:nvSpPr>
        <p:spPr>
          <a:xfrm>
            <a:off x="4030050" y="5841874"/>
            <a:ext cx="1904234" cy="366826"/>
          </a:xfrm>
          <a:prstGeom prst="rect">
            <a:avLst/>
          </a:prstGeom>
          <a:noFill/>
          <a:ln>
            <a:noFill/>
          </a:ln>
        </p:spPr>
        <p:txBody>
          <a:bodyPr anchorCtr="0" anchor="t" bIns="0" lIns="0" spcFirstLastPara="1" rIns="0" wrap="square" tIns="0">
            <a:noAutofit/>
          </a:bodyPr>
          <a:lstStyle/>
          <a:p>
            <a:pPr indent="0" lvl="0" marL="0" marR="0" rtl="0" algn="ctr">
              <a:lnSpc>
                <a:spcPct val="123913"/>
              </a:lnSpc>
              <a:spcBef>
                <a:spcPts val="0"/>
              </a:spcBef>
              <a:spcAft>
                <a:spcPts val="0"/>
              </a:spcAft>
              <a:buClr>
                <a:srgbClr val="272525"/>
              </a:buClr>
              <a:buSzPts val="2300"/>
              <a:buFont typeface="Inter"/>
              <a:buNone/>
            </a:pPr>
            <a:r>
              <a:rPr b="1" i="0" lang="en-US" sz="2300" u="none" cap="none" strike="noStrike">
                <a:solidFill>
                  <a:srgbClr val="272525"/>
                </a:solidFill>
                <a:latin typeface="Inter"/>
                <a:ea typeface="Inter"/>
                <a:cs typeface="Inter"/>
                <a:sym typeface="Inter"/>
              </a:rPr>
              <a:t>AI Verify</a:t>
            </a:r>
            <a:endParaRPr b="0" i="0" sz="2300" u="none" cap="none" strike="noStrike"/>
          </a:p>
        </p:txBody>
      </p:sp>
      <p:pic>
        <p:nvPicPr>
          <p:cNvPr descr="preencoded.png" id="194" name="Google Shape;194;p21"/>
          <p:cNvPicPr preferRelativeResize="0"/>
          <p:nvPr/>
        </p:nvPicPr>
        <p:blipFill rotWithShape="1">
          <a:blip r:embed="rId8">
            <a:alphaModFix/>
          </a:blip>
          <a:srcRect b="0" l="0" r="0" t="0"/>
          <a:stretch/>
        </p:blipFill>
        <p:spPr>
          <a:xfrm>
            <a:off x="2223636" y="3462397"/>
            <a:ext cx="652135" cy="652135"/>
          </a:xfrm>
          <a:prstGeom prst="rect">
            <a:avLst/>
          </a:prstGeom>
          <a:noFill/>
          <a:ln>
            <a:noFill/>
          </a:ln>
        </p:spPr>
      </p:pic>
      <p:sp>
        <p:nvSpPr>
          <p:cNvPr id="195" name="Google Shape;195;p21"/>
          <p:cNvSpPr/>
          <p:nvPr/>
        </p:nvSpPr>
        <p:spPr>
          <a:xfrm>
            <a:off x="1591065" y="5658461"/>
            <a:ext cx="1904234" cy="733652"/>
          </a:xfrm>
          <a:prstGeom prst="rect">
            <a:avLst/>
          </a:prstGeom>
          <a:noFill/>
          <a:ln>
            <a:noFill/>
          </a:ln>
        </p:spPr>
        <p:txBody>
          <a:bodyPr anchorCtr="0" anchor="t" bIns="0" lIns="0" spcFirstLastPara="1" rIns="0" wrap="square" tIns="0">
            <a:noAutofit/>
          </a:bodyPr>
          <a:lstStyle/>
          <a:p>
            <a:pPr indent="0" lvl="0" marL="0" marR="0" rtl="0" algn="ctr">
              <a:lnSpc>
                <a:spcPct val="123913"/>
              </a:lnSpc>
              <a:spcBef>
                <a:spcPts val="0"/>
              </a:spcBef>
              <a:spcAft>
                <a:spcPts val="0"/>
              </a:spcAft>
              <a:buClr>
                <a:srgbClr val="272525"/>
              </a:buClr>
              <a:buSzPts val="2300"/>
              <a:buFont typeface="Inter"/>
              <a:buNone/>
            </a:pPr>
            <a:r>
              <a:rPr b="1" i="0" lang="en-US" sz="2300" u="none" cap="none" strike="noStrike">
                <a:solidFill>
                  <a:srgbClr val="272525"/>
                </a:solidFill>
                <a:latin typeface="Inter"/>
                <a:ea typeface="Inter"/>
                <a:cs typeface="Inter"/>
                <a:sym typeface="Inter"/>
              </a:rPr>
              <a:t>Upload Photo</a:t>
            </a:r>
            <a:endParaRPr b="0" i="0" sz="2300" u="none" cap="none" strike="noStrike"/>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2"/>
          <p:cNvSpPr/>
          <p:nvPr/>
        </p:nvSpPr>
        <p:spPr>
          <a:xfrm>
            <a:off x="775216" y="560665"/>
            <a:ext cx="5443538" cy="54506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3400"/>
              <a:buFont typeface="Inter"/>
              <a:buNone/>
            </a:pPr>
            <a:r>
              <a:rPr b="1" i="0" lang="en-US" sz="3400" u="none" cap="none" strike="noStrike">
                <a:solidFill>
                  <a:srgbClr val="000000"/>
                </a:solidFill>
                <a:latin typeface="Inter"/>
                <a:ea typeface="Inter"/>
                <a:cs typeface="Inter"/>
                <a:sym typeface="Inter"/>
              </a:rPr>
              <a:t>Implementation Roadmap</a:t>
            </a:r>
            <a:endParaRPr b="0" i="0" sz="3400" u="none" cap="none" strike="noStrike"/>
          </a:p>
        </p:txBody>
      </p:sp>
      <p:sp>
        <p:nvSpPr>
          <p:cNvPr id="202" name="Google Shape;202;p22"/>
          <p:cNvSpPr/>
          <p:nvPr/>
        </p:nvSpPr>
        <p:spPr>
          <a:xfrm>
            <a:off x="775216" y="2998708"/>
            <a:ext cx="13079968" cy="22860"/>
          </a:xfrm>
          <a:prstGeom prst="roundRect">
            <a:avLst>
              <a:gd fmla="val 320471" name="adj"/>
            </a:avLst>
          </a:prstGeom>
          <a:solidFill>
            <a:srgbClr val="C0C1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2"/>
          <p:cNvSpPr/>
          <p:nvPr/>
        </p:nvSpPr>
        <p:spPr>
          <a:xfrm>
            <a:off x="3322201" y="2475428"/>
            <a:ext cx="22860" cy="523280"/>
          </a:xfrm>
          <a:prstGeom prst="roundRect">
            <a:avLst>
              <a:gd fmla="val 320471" name="adj"/>
            </a:avLst>
          </a:prstGeom>
          <a:solidFill>
            <a:srgbClr val="C0C1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22"/>
          <p:cNvSpPr/>
          <p:nvPr/>
        </p:nvSpPr>
        <p:spPr>
          <a:xfrm>
            <a:off x="3137416" y="2802493"/>
            <a:ext cx="392430" cy="392430"/>
          </a:xfrm>
          <a:prstGeom prst="roundRect">
            <a:avLst>
              <a:gd fmla="val 18668" name="adj"/>
            </a:avLst>
          </a:prstGeom>
          <a:solidFill>
            <a:srgbClr val="DADBF1"/>
          </a:solidFill>
          <a:ln cap="flat" cmpd="sng" w="952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22"/>
          <p:cNvSpPr/>
          <p:nvPr/>
        </p:nvSpPr>
        <p:spPr>
          <a:xfrm>
            <a:off x="3202841" y="2835235"/>
            <a:ext cx="261580" cy="32694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2525"/>
              </a:buClr>
              <a:buSzPts val="2050"/>
              <a:buFont typeface="Inter"/>
              <a:buNone/>
            </a:pPr>
            <a:r>
              <a:rPr b="1" i="0" lang="en-US" sz="2050" u="none" cap="none" strike="noStrike">
                <a:solidFill>
                  <a:srgbClr val="272525"/>
                </a:solidFill>
                <a:latin typeface="Inter"/>
                <a:ea typeface="Inter"/>
                <a:cs typeface="Inter"/>
                <a:sym typeface="Inter"/>
              </a:rPr>
              <a:t>1</a:t>
            </a:r>
            <a:endParaRPr b="0" i="0" sz="2050" u="none" cap="none" strike="noStrike"/>
          </a:p>
        </p:txBody>
      </p:sp>
      <p:sp>
        <p:nvSpPr>
          <p:cNvPr id="206" name="Google Shape;206;p22"/>
          <p:cNvSpPr/>
          <p:nvPr/>
        </p:nvSpPr>
        <p:spPr>
          <a:xfrm>
            <a:off x="2243495" y="1412319"/>
            <a:ext cx="2180273" cy="272415"/>
          </a:xfrm>
          <a:prstGeom prst="rect">
            <a:avLst/>
          </a:prstGeom>
          <a:noFill/>
          <a:ln>
            <a:noFill/>
          </a:ln>
        </p:spPr>
        <p:txBody>
          <a:bodyPr anchorCtr="0" anchor="t" bIns="0" lIns="0" spcFirstLastPara="1" rIns="0" wrap="square" tIns="0">
            <a:noAutofit/>
          </a:bodyPr>
          <a:lstStyle/>
          <a:p>
            <a:pPr indent="0" lvl="0" marL="0" marR="0" rtl="0" algn="ctr">
              <a:lnSpc>
                <a:spcPct val="123529"/>
              </a:lnSpc>
              <a:spcBef>
                <a:spcPts val="0"/>
              </a:spcBef>
              <a:spcAft>
                <a:spcPts val="0"/>
              </a:spcAft>
              <a:buClr>
                <a:srgbClr val="272525"/>
              </a:buClr>
              <a:buSzPts val="1700"/>
              <a:buFont typeface="Inter"/>
              <a:buNone/>
            </a:pPr>
            <a:r>
              <a:rPr b="1" i="0" lang="en-US" sz="1700" u="none" cap="none" strike="noStrike">
                <a:solidFill>
                  <a:srgbClr val="272525"/>
                </a:solidFill>
                <a:latin typeface="Inter"/>
                <a:ea typeface="Inter"/>
                <a:cs typeface="Inter"/>
                <a:sym typeface="Inter"/>
              </a:rPr>
              <a:t>Phase 1: Prototype</a:t>
            </a:r>
            <a:endParaRPr b="0" i="0" sz="1700" u="none" cap="none" strike="noStrike"/>
          </a:p>
        </p:txBody>
      </p:sp>
      <p:sp>
        <p:nvSpPr>
          <p:cNvPr id="207" name="Google Shape;207;p22"/>
          <p:cNvSpPr/>
          <p:nvPr/>
        </p:nvSpPr>
        <p:spPr>
          <a:xfrm>
            <a:off x="949643" y="1776651"/>
            <a:ext cx="4768096" cy="524351"/>
          </a:xfrm>
          <a:prstGeom prst="rect">
            <a:avLst/>
          </a:prstGeom>
          <a:noFill/>
          <a:ln>
            <a:noFill/>
          </a:ln>
        </p:spPr>
        <p:txBody>
          <a:bodyPr anchorCtr="0" anchor="t" bIns="0" lIns="0" spcFirstLastPara="1" rIns="0" wrap="square" tIns="0">
            <a:noAutofit/>
          </a:bodyPr>
          <a:lstStyle/>
          <a:p>
            <a:pPr indent="0" lvl="0" marL="0" marR="0" rtl="0" algn="ctr">
              <a:lnSpc>
                <a:spcPct val="151851"/>
              </a:lnSpc>
              <a:spcBef>
                <a:spcPts val="0"/>
              </a:spcBef>
              <a:spcAft>
                <a:spcPts val="0"/>
              </a:spcAft>
              <a:buClr>
                <a:srgbClr val="272525"/>
              </a:buClr>
              <a:buSzPts val="1350"/>
              <a:buFont typeface="Inter"/>
              <a:buNone/>
            </a:pPr>
            <a:r>
              <a:rPr b="0" i="0" lang="en-US" sz="1350" u="none" cap="none" strike="noStrike">
                <a:solidFill>
                  <a:srgbClr val="272525"/>
                </a:solidFill>
                <a:latin typeface="Inter"/>
                <a:ea typeface="Inter"/>
                <a:cs typeface="Inter"/>
                <a:sym typeface="Inter"/>
              </a:rPr>
              <a:t>Build scaled-down autonomous truck with basic waste detection and collection capabilities</a:t>
            </a:r>
            <a:endParaRPr b="0" i="0" sz="1350" u="none" cap="none" strike="noStrike"/>
          </a:p>
        </p:txBody>
      </p:sp>
      <p:sp>
        <p:nvSpPr>
          <p:cNvPr id="208" name="Google Shape;208;p22"/>
          <p:cNvSpPr/>
          <p:nvPr/>
        </p:nvSpPr>
        <p:spPr>
          <a:xfrm>
            <a:off x="5976580" y="2998708"/>
            <a:ext cx="22860" cy="523280"/>
          </a:xfrm>
          <a:prstGeom prst="roundRect">
            <a:avLst>
              <a:gd fmla="val 320471" name="adj"/>
            </a:avLst>
          </a:prstGeom>
          <a:solidFill>
            <a:srgbClr val="C0C1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2"/>
          <p:cNvSpPr/>
          <p:nvPr/>
        </p:nvSpPr>
        <p:spPr>
          <a:xfrm>
            <a:off x="5791795" y="2802493"/>
            <a:ext cx="392430" cy="392430"/>
          </a:xfrm>
          <a:prstGeom prst="roundRect">
            <a:avLst>
              <a:gd fmla="val 18668" name="adj"/>
            </a:avLst>
          </a:prstGeom>
          <a:solidFill>
            <a:srgbClr val="DADBF1"/>
          </a:solidFill>
          <a:ln cap="flat" cmpd="sng" w="952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2"/>
          <p:cNvSpPr/>
          <p:nvPr/>
        </p:nvSpPr>
        <p:spPr>
          <a:xfrm>
            <a:off x="5857220" y="2835235"/>
            <a:ext cx="261580" cy="32694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2525"/>
              </a:buClr>
              <a:buSzPts val="2050"/>
              <a:buFont typeface="Inter"/>
              <a:buNone/>
            </a:pPr>
            <a:r>
              <a:rPr b="1" i="0" lang="en-US" sz="2050" u="none" cap="none" strike="noStrike">
                <a:solidFill>
                  <a:srgbClr val="272525"/>
                </a:solidFill>
                <a:latin typeface="Inter"/>
                <a:ea typeface="Inter"/>
                <a:cs typeface="Inter"/>
                <a:sym typeface="Inter"/>
              </a:rPr>
              <a:t>2</a:t>
            </a:r>
            <a:endParaRPr b="0" i="0" sz="2050" u="none" cap="none" strike="noStrike"/>
          </a:p>
        </p:txBody>
      </p:sp>
      <p:sp>
        <p:nvSpPr>
          <p:cNvPr id="211" name="Google Shape;211;p22"/>
          <p:cNvSpPr/>
          <p:nvPr/>
        </p:nvSpPr>
        <p:spPr>
          <a:xfrm>
            <a:off x="4897874" y="3696414"/>
            <a:ext cx="2180273" cy="272415"/>
          </a:xfrm>
          <a:prstGeom prst="rect">
            <a:avLst/>
          </a:prstGeom>
          <a:noFill/>
          <a:ln>
            <a:noFill/>
          </a:ln>
        </p:spPr>
        <p:txBody>
          <a:bodyPr anchorCtr="0" anchor="t" bIns="0" lIns="0" spcFirstLastPara="1" rIns="0" wrap="square" tIns="0">
            <a:noAutofit/>
          </a:bodyPr>
          <a:lstStyle/>
          <a:p>
            <a:pPr indent="0" lvl="0" marL="0" marR="0" rtl="0" algn="ctr">
              <a:lnSpc>
                <a:spcPct val="123529"/>
              </a:lnSpc>
              <a:spcBef>
                <a:spcPts val="0"/>
              </a:spcBef>
              <a:spcAft>
                <a:spcPts val="0"/>
              </a:spcAft>
              <a:buClr>
                <a:srgbClr val="272525"/>
              </a:buClr>
              <a:buSzPts val="1700"/>
              <a:buFont typeface="Inter"/>
              <a:buNone/>
            </a:pPr>
            <a:r>
              <a:rPr b="1" i="0" lang="en-US" sz="1700" u="none" cap="none" strike="noStrike">
                <a:solidFill>
                  <a:srgbClr val="272525"/>
                </a:solidFill>
                <a:latin typeface="Inter"/>
                <a:ea typeface="Inter"/>
                <a:cs typeface="Inter"/>
                <a:sym typeface="Inter"/>
              </a:rPr>
              <a:t>Phase 2: AI Training</a:t>
            </a:r>
            <a:endParaRPr b="0" i="0" sz="1700" u="none" cap="none" strike="noStrike"/>
          </a:p>
        </p:txBody>
      </p:sp>
      <p:sp>
        <p:nvSpPr>
          <p:cNvPr id="212" name="Google Shape;212;p22"/>
          <p:cNvSpPr/>
          <p:nvPr/>
        </p:nvSpPr>
        <p:spPr>
          <a:xfrm>
            <a:off x="3603903" y="4060746"/>
            <a:ext cx="4768215" cy="524351"/>
          </a:xfrm>
          <a:prstGeom prst="rect">
            <a:avLst/>
          </a:prstGeom>
          <a:noFill/>
          <a:ln>
            <a:noFill/>
          </a:ln>
        </p:spPr>
        <p:txBody>
          <a:bodyPr anchorCtr="0" anchor="t" bIns="0" lIns="0" spcFirstLastPara="1" rIns="0" wrap="square" tIns="0">
            <a:noAutofit/>
          </a:bodyPr>
          <a:lstStyle/>
          <a:p>
            <a:pPr indent="0" lvl="0" marL="0" marR="0" rtl="0" algn="ctr">
              <a:lnSpc>
                <a:spcPct val="151851"/>
              </a:lnSpc>
              <a:spcBef>
                <a:spcPts val="0"/>
              </a:spcBef>
              <a:spcAft>
                <a:spcPts val="0"/>
              </a:spcAft>
              <a:buClr>
                <a:srgbClr val="272525"/>
              </a:buClr>
              <a:buSzPts val="1350"/>
              <a:buFont typeface="Inter"/>
              <a:buNone/>
            </a:pPr>
            <a:r>
              <a:rPr b="0" i="0" lang="en-US" sz="1350" u="none" cap="none" strike="noStrike">
                <a:solidFill>
                  <a:srgbClr val="272525"/>
                </a:solidFill>
                <a:latin typeface="Inter"/>
                <a:ea typeface="Inter"/>
                <a:cs typeface="Inter"/>
                <a:sym typeface="Inter"/>
              </a:rPr>
              <a:t>Collect and label dataset, train computer vision models, achieve 85%+ detection accuracy</a:t>
            </a:r>
            <a:endParaRPr b="0" i="0" sz="1350" u="none" cap="none" strike="noStrike"/>
          </a:p>
        </p:txBody>
      </p:sp>
      <p:sp>
        <p:nvSpPr>
          <p:cNvPr id="213" name="Google Shape;213;p22"/>
          <p:cNvSpPr/>
          <p:nvPr/>
        </p:nvSpPr>
        <p:spPr>
          <a:xfrm>
            <a:off x="8630841" y="2475428"/>
            <a:ext cx="22860" cy="523280"/>
          </a:xfrm>
          <a:prstGeom prst="roundRect">
            <a:avLst>
              <a:gd fmla="val 320471" name="adj"/>
            </a:avLst>
          </a:prstGeom>
          <a:solidFill>
            <a:srgbClr val="C0C1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2"/>
          <p:cNvSpPr/>
          <p:nvPr/>
        </p:nvSpPr>
        <p:spPr>
          <a:xfrm>
            <a:off x="8446056" y="2802493"/>
            <a:ext cx="392430" cy="392430"/>
          </a:xfrm>
          <a:prstGeom prst="roundRect">
            <a:avLst>
              <a:gd fmla="val 18668" name="adj"/>
            </a:avLst>
          </a:prstGeom>
          <a:solidFill>
            <a:srgbClr val="DADBF1"/>
          </a:solidFill>
          <a:ln cap="flat" cmpd="sng" w="952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2"/>
          <p:cNvSpPr/>
          <p:nvPr/>
        </p:nvSpPr>
        <p:spPr>
          <a:xfrm>
            <a:off x="8511480" y="2835235"/>
            <a:ext cx="261580" cy="32694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2525"/>
              </a:buClr>
              <a:buSzPts val="2050"/>
              <a:buFont typeface="Inter"/>
              <a:buNone/>
            </a:pPr>
            <a:r>
              <a:rPr b="1" i="0" lang="en-US" sz="2050" u="none" cap="none" strike="noStrike">
                <a:solidFill>
                  <a:srgbClr val="272525"/>
                </a:solidFill>
                <a:latin typeface="Inter"/>
                <a:ea typeface="Inter"/>
                <a:cs typeface="Inter"/>
                <a:sym typeface="Inter"/>
              </a:rPr>
              <a:t>3</a:t>
            </a:r>
            <a:endParaRPr b="0" i="0" sz="2050" u="none" cap="none" strike="noStrike"/>
          </a:p>
        </p:txBody>
      </p:sp>
      <p:sp>
        <p:nvSpPr>
          <p:cNvPr id="216" name="Google Shape;216;p22"/>
          <p:cNvSpPr/>
          <p:nvPr/>
        </p:nvSpPr>
        <p:spPr>
          <a:xfrm>
            <a:off x="7436525" y="1412319"/>
            <a:ext cx="2411373" cy="272415"/>
          </a:xfrm>
          <a:prstGeom prst="rect">
            <a:avLst/>
          </a:prstGeom>
          <a:noFill/>
          <a:ln>
            <a:noFill/>
          </a:ln>
        </p:spPr>
        <p:txBody>
          <a:bodyPr anchorCtr="0" anchor="t" bIns="0" lIns="0" spcFirstLastPara="1" rIns="0" wrap="square" tIns="0">
            <a:noAutofit/>
          </a:bodyPr>
          <a:lstStyle/>
          <a:p>
            <a:pPr indent="0" lvl="0" marL="0" marR="0" rtl="0" algn="ctr">
              <a:lnSpc>
                <a:spcPct val="123529"/>
              </a:lnSpc>
              <a:spcBef>
                <a:spcPts val="0"/>
              </a:spcBef>
              <a:spcAft>
                <a:spcPts val="0"/>
              </a:spcAft>
              <a:buClr>
                <a:srgbClr val="272525"/>
              </a:buClr>
              <a:buSzPts val="1700"/>
              <a:buFont typeface="Inter"/>
              <a:buNone/>
            </a:pPr>
            <a:r>
              <a:rPr b="1" i="0" lang="en-US" sz="1700" u="none" cap="none" strike="noStrike">
                <a:solidFill>
                  <a:srgbClr val="272525"/>
                </a:solidFill>
                <a:latin typeface="Inter"/>
                <a:ea typeface="Inter"/>
                <a:cs typeface="Inter"/>
                <a:sym typeface="Inter"/>
              </a:rPr>
              <a:t>Phase 3: Web Platform</a:t>
            </a:r>
            <a:endParaRPr b="0" i="0" sz="1700" u="none" cap="none" strike="noStrike"/>
          </a:p>
        </p:txBody>
      </p:sp>
      <p:sp>
        <p:nvSpPr>
          <p:cNvPr id="217" name="Google Shape;217;p22"/>
          <p:cNvSpPr/>
          <p:nvPr/>
        </p:nvSpPr>
        <p:spPr>
          <a:xfrm>
            <a:off x="6258163" y="1776651"/>
            <a:ext cx="4768215" cy="524351"/>
          </a:xfrm>
          <a:prstGeom prst="rect">
            <a:avLst/>
          </a:prstGeom>
          <a:noFill/>
          <a:ln>
            <a:noFill/>
          </a:ln>
        </p:spPr>
        <p:txBody>
          <a:bodyPr anchorCtr="0" anchor="t" bIns="0" lIns="0" spcFirstLastPara="1" rIns="0" wrap="square" tIns="0">
            <a:noAutofit/>
          </a:bodyPr>
          <a:lstStyle/>
          <a:p>
            <a:pPr indent="0" lvl="0" marL="0" marR="0" rtl="0" algn="ctr">
              <a:lnSpc>
                <a:spcPct val="151851"/>
              </a:lnSpc>
              <a:spcBef>
                <a:spcPts val="0"/>
              </a:spcBef>
              <a:spcAft>
                <a:spcPts val="0"/>
              </a:spcAft>
              <a:buClr>
                <a:srgbClr val="272525"/>
              </a:buClr>
              <a:buSzPts val="1350"/>
              <a:buFont typeface="Inter"/>
              <a:buNone/>
            </a:pPr>
            <a:r>
              <a:rPr b="0" i="0" lang="en-US" sz="1350" u="none" cap="none" strike="noStrike">
                <a:solidFill>
                  <a:srgbClr val="272525"/>
                </a:solidFill>
                <a:latin typeface="Inter"/>
                <a:ea typeface="Inter"/>
                <a:cs typeface="Inter"/>
                <a:sym typeface="Inter"/>
              </a:rPr>
              <a:t>Launch citizen reporting app with GPS tagging and status tracking features</a:t>
            </a:r>
            <a:endParaRPr b="0" i="0" sz="1350" u="none" cap="none" strike="noStrike"/>
          </a:p>
        </p:txBody>
      </p:sp>
      <p:sp>
        <p:nvSpPr>
          <p:cNvPr id="218" name="Google Shape;218;p22"/>
          <p:cNvSpPr/>
          <p:nvPr/>
        </p:nvSpPr>
        <p:spPr>
          <a:xfrm>
            <a:off x="11285220" y="2998708"/>
            <a:ext cx="22860" cy="523280"/>
          </a:xfrm>
          <a:prstGeom prst="roundRect">
            <a:avLst>
              <a:gd fmla="val 320471" name="adj"/>
            </a:avLst>
          </a:prstGeom>
          <a:solidFill>
            <a:srgbClr val="C0C1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2"/>
          <p:cNvSpPr/>
          <p:nvPr/>
        </p:nvSpPr>
        <p:spPr>
          <a:xfrm>
            <a:off x="11100435" y="2802493"/>
            <a:ext cx="392430" cy="392430"/>
          </a:xfrm>
          <a:prstGeom prst="roundRect">
            <a:avLst>
              <a:gd fmla="val 18668" name="adj"/>
            </a:avLst>
          </a:prstGeom>
          <a:solidFill>
            <a:srgbClr val="DADBF1"/>
          </a:solidFill>
          <a:ln cap="flat" cmpd="sng" w="952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22"/>
          <p:cNvSpPr/>
          <p:nvPr/>
        </p:nvSpPr>
        <p:spPr>
          <a:xfrm>
            <a:off x="11165860" y="2835235"/>
            <a:ext cx="261580" cy="32694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2525"/>
              </a:buClr>
              <a:buSzPts val="2050"/>
              <a:buFont typeface="Inter"/>
              <a:buNone/>
            </a:pPr>
            <a:r>
              <a:rPr b="1" i="0" lang="en-US" sz="2050" u="none" cap="none" strike="noStrike">
                <a:solidFill>
                  <a:srgbClr val="272525"/>
                </a:solidFill>
                <a:latin typeface="Inter"/>
                <a:ea typeface="Inter"/>
                <a:cs typeface="Inter"/>
                <a:sym typeface="Inter"/>
              </a:rPr>
              <a:t>4</a:t>
            </a:r>
            <a:endParaRPr b="0" i="0" sz="2050" u="none" cap="none" strike="noStrike"/>
          </a:p>
        </p:txBody>
      </p:sp>
      <p:sp>
        <p:nvSpPr>
          <p:cNvPr id="221" name="Google Shape;221;p22"/>
          <p:cNvSpPr/>
          <p:nvPr/>
        </p:nvSpPr>
        <p:spPr>
          <a:xfrm>
            <a:off x="10091023" y="3696414"/>
            <a:ext cx="2411135" cy="272415"/>
          </a:xfrm>
          <a:prstGeom prst="rect">
            <a:avLst/>
          </a:prstGeom>
          <a:noFill/>
          <a:ln>
            <a:noFill/>
          </a:ln>
        </p:spPr>
        <p:txBody>
          <a:bodyPr anchorCtr="0" anchor="t" bIns="0" lIns="0" spcFirstLastPara="1" rIns="0" wrap="square" tIns="0">
            <a:noAutofit/>
          </a:bodyPr>
          <a:lstStyle/>
          <a:p>
            <a:pPr indent="0" lvl="0" marL="0" marR="0" rtl="0" algn="ctr">
              <a:lnSpc>
                <a:spcPct val="123529"/>
              </a:lnSpc>
              <a:spcBef>
                <a:spcPts val="0"/>
              </a:spcBef>
              <a:spcAft>
                <a:spcPts val="0"/>
              </a:spcAft>
              <a:buClr>
                <a:srgbClr val="272525"/>
              </a:buClr>
              <a:buSzPts val="1700"/>
              <a:buFont typeface="Inter"/>
              <a:buNone/>
            </a:pPr>
            <a:r>
              <a:rPr b="1" i="0" lang="en-US" sz="1700" u="none" cap="none" strike="noStrike">
                <a:solidFill>
                  <a:srgbClr val="272525"/>
                </a:solidFill>
                <a:latin typeface="Inter"/>
                <a:ea typeface="Inter"/>
                <a:cs typeface="Inter"/>
                <a:sym typeface="Inter"/>
              </a:rPr>
              <a:t>Phase 4: Pilot Program</a:t>
            </a:r>
            <a:endParaRPr b="0" i="0" sz="1700" u="none" cap="none" strike="noStrike"/>
          </a:p>
        </p:txBody>
      </p:sp>
      <p:sp>
        <p:nvSpPr>
          <p:cNvPr id="222" name="Google Shape;222;p22"/>
          <p:cNvSpPr/>
          <p:nvPr/>
        </p:nvSpPr>
        <p:spPr>
          <a:xfrm>
            <a:off x="8912543" y="4060746"/>
            <a:ext cx="4768215" cy="524351"/>
          </a:xfrm>
          <a:prstGeom prst="rect">
            <a:avLst/>
          </a:prstGeom>
          <a:noFill/>
          <a:ln>
            <a:noFill/>
          </a:ln>
        </p:spPr>
        <p:txBody>
          <a:bodyPr anchorCtr="0" anchor="t" bIns="0" lIns="0" spcFirstLastPara="1" rIns="0" wrap="square" tIns="0">
            <a:noAutofit/>
          </a:bodyPr>
          <a:lstStyle/>
          <a:p>
            <a:pPr indent="0" lvl="0" marL="0" marR="0" rtl="0" algn="ctr">
              <a:lnSpc>
                <a:spcPct val="151851"/>
              </a:lnSpc>
              <a:spcBef>
                <a:spcPts val="0"/>
              </a:spcBef>
              <a:spcAft>
                <a:spcPts val="0"/>
              </a:spcAft>
              <a:buClr>
                <a:srgbClr val="272525"/>
              </a:buClr>
              <a:buSzPts val="1350"/>
              <a:buFont typeface="Inter"/>
              <a:buNone/>
            </a:pPr>
            <a:r>
              <a:rPr b="0" i="0" lang="en-US" sz="1350" u="none" cap="none" strike="noStrike">
                <a:solidFill>
                  <a:srgbClr val="272525"/>
                </a:solidFill>
                <a:latin typeface="Inter"/>
                <a:ea typeface="Inter"/>
                <a:cs typeface="Inter"/>
                <a:sym typeface="Inter"/>
              </a:rPr>
              <a:t>Deploy 3 trucks in one city district for 30-day trial with municipal partnership</a:t>
            </a:r>
            <a:endParaRPr b="0" i="0" sz="1350" u="none" cap="none" strike="noStrike"/>
          </a:p>
        </p:txBody>
      </p:sp>
      <p:sp>
        <p:nvSpPr>
          <p:cNvPr id="223" name="Google Shape;223;p22"/>
          <p:cNvSpPr/>
          <p:nvPr/>
        </p:nvSpPr>
        <p:spPr>
          <a:xfrm>
            <a:off x="775216" y="4815007"/>
            <a:ext cx="3488531" cy="436007"/>
          </a:xfrm>
          <a:prstGeom prst="rect">
            <a:avLst/>
          </a:prstGeom>
          <a:noFill/>
          <a:ln>
            <a:noFill/>
          </a:ln>
        </p:spPr>
        <p:txBody>
          <a:bodyPr anchorCtr="0" anchor="t" bIns="0" lIns="0" spcFirstLastPara="1" rIns="0" wrap="square" tIns="0">
            <a:noAutofit/>
          </a:bodyPr>
          <a:lstStyle/>
          <a:p>
            <a:pPr indent="0" lvl="0" marL="0" marR="0" rtl="0" algn="l">
              <a:lnSpc>
                <a:spcPct val="125925"/>
              </a:lnSpc>
              <a:spcBef>
                <a:spcPts val="0"/>
              </a:spcBef>
              <a:spcAft>
                <a:spcPts val="0"/>
              </a:spcAft>
              <a:buClr>
                <a:srgbClr val="000000"/>
              </a:buClr>
              <a:buSzPts val="2700"/>
              <a:buFont typeface="Inter"/>
              <a:buNone/>
            </a:pPr>
            <a:r>
              <a:rPr b="1" i="0" lang="en-US" sz="2700" u="none" cap="none" strike="noStrike">
                <a:solidFill>
                  <a:srgbClr val="000000"/>
                </a:solidFill>
                <a:latin typeface="Inter"/>
                <a:ea typeface="Inter"/>
                <a:cs typeface="Inter"/>
                <a:sym typeface="Inter"/>
              </a:rPr>
              <a:t>Expected Impact</a:t>
            </a:r>
            <a:endParaRPr b="0" i="0" sz="2700" u="none" cap="none" strike="noStrike"/>
          </a:p>
        </p:txBody>
      </p:sp>
      <p:sp>
        <p:nvSpPr>
          <p:cNvPr id="224" name="Google Shape;224;p22"/>
          <p:cNvSpPr/>
          <p:nvPr/>
        </p:nvSpPr>
        <p:spPr>
          <a:xfrm>
            <a:off x="986790" y="5568077"/>
            <a:ext cx="3808928" cy="57554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2525"/>
              </a:buClr>
              <a:buSzPts val="4500"/>
              <a:buFont typeface="Inter"/>
              <a:buNone/>
            </a:pPr>
            <a:r>
              <a:rPr b="1" i="0" lang="en-US" sz="4500" u="none" cap="none" strike="noStrike">
                <a:solidFill>
                  <a:srgbClr val="272525"/>
                </a:solidFill>
                <a:latin typeface="Inter"/>
                <a:ea typeface="Inter"/>
                <a:cs typeface="Inter"/>
                <a:sym typeface="Inter"/>
              </a:rPr>
              <a:t>75%</a:t>
            </a:r>
            <a:endParaRPr b="0" i="0" sz="4500" u="none" cap="none" strike="noStrike"/>
          </a:p>
        </p:txBody>
      </p:sp>
      <p:sp>
        <p:nvSpPr>
          <p:cNvPr id="225" name="Google Shape;225;p22"/>
          <p:cNvSpPr/>
          <p:nvPr/>
        </p:nvSpPr>
        <p:spPr>
          <a:xfrm>
            <a:off x="1543407" y="6345674"/>
            <a:ext cx="2695813" cy="272415"/>
          </a:xfrm>
          <a:prstGeom prst="rect">
            <a:avLst/>
          </a:prstGeom>
          <a:noFill/>
          <a:ln>
            <a:noFill/>
          </a:ln>
        </p:spPr>
        <p:txBody>
          <a:bodyPr anchorCtr="0" anchor="t" bIns="0" lIns="0" spcFirstLastPara="1" rIns="0" wrap="square" tIns="0">
            <a:noAutofit/>
          </a:bodyPr>
          <a:lstStyle/>
          <a:p>
            <a:pPr indent="0" lvl="0" marL="0" marR="0" rtl="0" algn="ctr">
              <a:lnSpc>
                <a:spcPct val="123529"/>
              </a:lnSpc>
              <a:spcBef>
                <a:spcPts val="0"/>
              </a:spcBef>
              <a:spcAft>
                <a:spcPts val="0"/>
              </a:spcAft>
              <a:buClr>
                <a:srgbClr val="272525"/>
              </a:buClr>
              <a:buSzPts val="1700"/>
              <a:buFont typeface="Inter"/>
              <a:buNone/>
            </a:pPr>
            <a:r>
              <a:rPr b="1" i="0" lang="en-US" sz="1700" u="none" cap="none" strike="noStrike">
                <a:solidFill>
                  <a:srgbClr val="272525"/>
                </a:solidFill>
                <a:latin typeface="Inter"/>
                <a:ea typeface="Inter"/>
                <a:cs typeface="Inter"/>
                <a:sym typeface="Inter"/>
              </a:rPr>
              <a:t>Reduction in street waste</a:t>
            </a:r>
            <a:endParaRPr b="0" i="0" sz="1700" u="none" cap="none" strike="noStrike"/>
          </a:p>
        </p:txBody>
      </p:sp>
      <p:sp>
        <p:nvSpPr>
          <p:cNvPr id="226" name="Google Shape;226;p22"/>
          <p:cNvSpPr/>
          <p:nvPr/>
        </p:nvSpPr>
        <p:spPr>
          <a:xfrm>
            <a:off x="775216" y="6710005"/>
            <a:ext cx="4232196" cy="262176"/>
          </a:xfrm>
          <a:prstGeom prst="rect">
            <a:avLst/>
          </a:prstGeom>
          <a:noFill/>
          <a:ln>
            <a:noFill/>
          </a:ln>
        </p:spPr>
        <p:txBody>
          <a:bodyPr anchorCtr="0" anchor="t" bIns="0" lIns="0" spcFirstLastPara="1" rIns="0" wrap="square" tIns="0">
            <a:noAutofit/>
          </a:bodyPr>
          <a:lstStyle/>
          <a:p>
            <a:pPr indent="0" lvl="0" marL="0" marR="0" rtl="0" algn="ctr">
              <a:lnSpc>
                <a:spcPct val="151851"/>
              </a:lnSpc>
              <a:spcBef>
                <a:spcPts val="0"/>
              </a:spcBef>
              <a:spcAft>
                <a:spcPts val="0"/>
              </a:spcAft>
              <a:buClr>
                <a:srgbClr val="272525"/>
              </a:buClr>
              <a:buSzPts val="1350"/>
              <a:buFont typeface="Inter"/>
              <a:buNone/>
            </a:pPr>
            <a:r>
              <a:rPr b="0" i="0" lang="en-US" sz="1350" u="none" cap="none" strike="noStrike">
                <a:solidFill>
                  <a:srgbClr val="272525"/>
                </a:solidFill>
                <a:latin typeface="Inter"/>
                <a:ea typeface="Inter"/>
                <a:cs typeface="Inter"/>
                <a:sym typeface="Inter"/>
              </a:rPr>
              <a:t>Based on pilot projections</a:t>
            </a:r>
            <a:endParaRPr b="0" i="0" sz="1350" u="none" cap="none" strike="noStrike"/>
          </a:p>
        </p:txBody>
      </p:sp>
      <p:sp>
        <p:nvSpPr>
          <p:cNvPr id="227" name="Google Shape;227;p22"/>
          <p:cNvSpPr/>
          <p:nvPr/>
        </p:nvSpPr>
        <p:spPr>
          <a:xfrm>
            <a:off x="5410557" y="5568077"/>
            <a:ext cx="3809048" cy="57554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2525"/>
              </a:buClr>
              <a:buSzPts val="4500"/>
              <a:buFont typeface="Inter"/>
              <a:buNone/>
            </a:pPr>
            <a:r>
              <a:rPr b="1" i="0" lang="en-US" sz="4500" u="none" cap="none" strike="noStrike">
                <a:solidFill>
                  <a:srgbClr val="272525"/>
                </a:solidFill>
                <a:latin typeface="Inter"/>
                <a:ea typeface="Inter"/>
                <a:cs typeface="Inter"/>
                <a:sym typeface="Inter"/>
              </a:rPr>
              <a:t>60%</a:t>
            </a:r>
            <a:endParaRPr b="0" i="0" sz="4500" u="none" cap="none" strike="noStrike"/>
          </a:p>
        </p:txBody>
      </p:sp>
      <p:sp>
        <p:nvSpPr>
          <p:cNvPr id="228" name="Google Shape;228;p22"/>
          <p:cNvSpPr/>
          <p:nvPr/>
        </p:nvSpPr>
        <p:spPr>
          <a:xfrm>
            <a:off x="6078617" y="6345674"/>
            <a:ext cx="2473047" cy="272415"/>
          </a:xfrm>
          <a:prstGeom prst="rect">
            <a:avLst/>
          </a:prstGeom>
          <a:noFill/>
          <a:ln>
            <a:noFill/>
          </a:ln>
        </p:spPr>
        <p:txBody>
          <a:bodyPr anchorCtr="0" anchor="t" bIns="0" lIns="0" spcFirstLastPara="1" rIns="0" wrap="square" tIns="0">
            <a:noAutofit/>
          </a:bodyPr>
          <a:lstStyle/>
          <a:p>
            <a:pPr indent="0" lvl="0" marL="0" marR="0" rtl="0" algn="ctr">
              <a:lnSpc>
                <a:spcPct val="123529"/>
              </a:lnSpc>
              <a:spcBef>
                <a:spcPts val="0"/>
              </a:spcBef>
              <a:spcAft>
                <a:spcPts val="0"/>
              </a:spcAft>
              <a:buClr>
                <a:srgbClr val="272525"/>
              </a:buClr>
              <a:buSzPts val="1700"/>
              <a:buFont typeface="Inter"/>
              <a:buNone/>
            </a:pPr>
            <a:r>
              <a:rPr b="1" i="0" lang="en-US" sz="1700" u="none" cap="none" strike="noStrike">
                <a:solidFill>
                  <a:srgbClr val="272525"/>
                </a:solidFill>
                <a:latin typeface="Inter"/>
                <a:ea typeface="Inter"/>
                <a:cs typeface="Inter"/>
                <a:sym typeface="Inter"/>
              </a:rPr>
              <a:t>Lower manpower costs</a:t>
            </a:r>
            <a:endParaRPr b="0" i="0" sz="1700" u="none" cap="none" strike="noStrike"/>
          </a:p>
        </p:txBody>
      </p:sp>
      <p:sp>
        <p:nvSpPr>
          <p:cNvPr id="229" name="Google Shape;229;p22"/>
          <p:cNvSpPr/>
          <p:nvPr/>
        </p:nvSpPr>
        <p:spPr>
          <a:xfrm>
            <a:off x="5198983" y="6710005"/>
            <a:ext cx="4232315" cy="262176"/>
          </a:xfrm>
          <a:prstGeom prst="rect">
            <a:avLst/>
          </a:prstGeom>
          <a:noFill/>
          <a:ln>
            <a:noFill/>
          </a:ln>
        </p:spPr>
        <p:txBody>
          <a:bodyPr anchorCtr="0" anchor="t" bIns="0" lIns="0" spcFirstLastPara="1" rIns="0" wrap="square" tIns="0">
            <a:noAutofit/>
          </a:bodyPr>
          <a:lstStyle/>
          <a:p>
            <a:pPr indent="0" lvl="0" marL="0" marR="0" rtl="0" algn="ctr">
              <a:lnSpc>
                <a:spcPct val="151851"/>
              </a:lnSpc>
              <a:spcBef>
                <a:spcPts val="0"/>
              </a:spcBef>
              <a:spcAft>
                <a:spcPts val="0"/>
              </a:spcAft>
              <a:buClr>
                <a:srgbClr val="272525"/>
              </a:buClr>
              <a:buSzPts val="1350"/>
              <a:buFont typeface="Inter"/>
              <a:buNone/>
            </a:pPr>
            <a:r>
              <a:rPr b="0" i="0" lang="en-US" sz="1350" u="none" cap="none" strike="noStrike">
                <a:solidFill>
                  <a:srgbClr val="272525"/>
                </a:solidFill>
                <a:latin typeface="Inter"/>
                <a:ea typeface="Inter"/>
                <a:cs typeface="Inter"/>
                <a:sym typeface="Inter"/>
              </a:rPr>
              <a:t>Automation efficiency gains</a:t>
            </a:r>
            <a:endParaRPr b="0" i="0" sz="1350" u="none" cap="none" strike="noStrike"/>
          </a:p>
        </p:txBody>
      </p:sp>
      <p:sp>
        <p:nvSpPr>
          <p:cNvPr id="230" name="Google Shape;230;p22"/>
          <p:cNvSpPr/>
          <p:nvPr/>
        </p:nvSpPr>
        <p:spPr>
          <a:xfrm>
            <a:off x="9834443" y="5568077"/>
            <a:ext cx="3809048" cy="57554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72525"/>
              </a:buClr>
              <a:buSzPts val="4500"/>
              <a:buFont typeface="Inter"/>
              <a:buNone/>
            </a:pPr>
            <a:r>
              <a:rPr b="1" i="0" lang="en-US" sz="4500" u="none" cap="none" strike="noStrike">
                <a:solidFill>
                  <a:srgbClr val="272525"/>
                </a:solidFill>
                <a:latin typeface="Inter"/>
                <a:ea typeface="Inter"/>
                <a:cs typeface="Inter"/>
                <a:sym typeface="Inter"/>
              </a:rPr>
              <a:t>4X</a:t>
            </a:r>
            <a:endParaRPr b="0" i="0" sz="4500" u="none" cap="none" strike="noStrike"/>
          </a:p>
        </p:txBody>
      </p:sp>
      <p:sp>
        <p:nvSpPr>
          <p:cNvPr id="231" name="Google Shape;231;p22"/>
          <p:cNvSpPr/>
          <p:nvPr/>
        </p:nvSpPr>
        <p:spPr>
          <a:xfrm>
            <a:off x="10621685" y="6345674"/>
            <a:ext cx="2234565" cy="272415"/>
          </a:xfrm>
          <a:prstGeom prst="rect">
            <a:avLst/>
          </a:prstGeom>
          <a:noFill/>
          <a:ln>
            <a:noFill/>
          </a:ln>
        </p:spPr>
        <p:txBody>
          <a:bodyPr anchorCtr="0" anchor="t" bIns="0" lIns="0" spcFirstLastPara="1" rIns="0" wrap="square" tIns="0">
            <a:noAutofit/>
          </a:bodyPr>
          <a:lstStyle/>
          <a:p>
            <a:pPr indent="0" lvl="0" marL="0" marR="0" rtl="0" algn="ctr">
              <a:lnSpc>
                <a:spcPct val="123529"/>
              </a:lnSpc>
              <a:spcBef>
                <a:spcPts val="0"/>
              </a:spcBef>
              <a:spcAft>
                <a:spcPts val="0"/>
              </a:spcAft>
              <a:buClr>
                <a:srgbClr val="272525"/>
              </a:buClr>
              <a:buSzPts val="1700"/>
              <a:buFont typeface="Inter"/>
              <a:buNone/>
            </a:pPr>
            <a:r>
              <a:rPr b="1" i="0" lang="en-US" sz="1700" u="none" cap="none" strike="noStrike">
                <a:solidFill>
                  <a:srgbClr val="272525"/>
                </a:solidFill>
                <a:latin typeface="Inter"/>
                <a:ea typeface="Inter"/>
                <a:cs typeface="Inter"/>
                <a:sym typeface="Inter"/>
              </a:rPr>
              <a:t>Faster response time</a:t>
            </a:r>
            <a:endParaRPr b="0" i="0" sz="1700" u="none" cap="none" strike="noStrike"/>
          </a:p>
        </p:txBody>
      </p:sp>
      <p:sp>
        <p:nvSpPr>
          <p:cNvPr id="232" name="Google Shape;232;p22"/>
          <p:cNvSpPr/>
          <p:nvPr/>
        </p:nvSpPr>
        <p:spPr>
          <a:xfrm>
            <a:off x="9622869" y="6710005"/>
            <a:ext cx="4232315" cy="262176"/>
          </a:xfrm>
          <a:prstGeom prst="rect">
            <a:avLst/>
          </a:prstGeom>
          <a:noFill/>
          <a:ln>
            <a:noFill/>
          </a:ln>
        </p:spPr>
        <p:txBody>
          <a:bodyPr anchorCtr="0" anchor="t" bIns="0" lIns="0" spcFirstLastPara="1" rIns="0" wrap="square" tIns="0">
            <a:noAutofit/>
          </a:bodyPr>
          <a:lstStyle/>
          <a:p>
            <a:pPr indent="0" lvl="0" marL="0" marR="0" rtl="0" algn="ctr">
              <a:lnSpc>
                <a:spcPct val="151851"/>
              </a:lnSpc>
              <a:spcBef>
                <a:spcPts val="0"/>
              </a:spcBef>
              <a:spcAft>
                <a:spcPts val="0"/>
              </a:spcAft>
              <a:buClr>
                <a:srgbClr val="272525"/>
              </a:buClr>
              <a:buSzPts val="1350"/>
              <a:buFont typeface="Inter"/>
              <a:buNone/>
            </a:pPr>
            <a:r>
              <a:rPr b="0" i="0" lang="en-US" sz="1350" u="none" cap="none" strike="noStrike">
                <a:solidFill>
                  <a:srgbClr val="272525"/>
                </a:solidFill>
                <a:latin typeface="Inter"/>
                <a:ea typeface="Inter"/>
                <a:cs typeface="Inter"/>
                <a:sym typeface="Inter"/>
              </a:rPr>
              <a:t>From report to cleanup</a:t>
            </a:r>
            <a:endParaRPr b="0" i="0" sz="1350" u="none" cap="none" strike="noStrike"/>
          </a:p>
        </p:txBody>
      </p:sp>
      <p:sp>
        <p:nvSpPr>
          <p:cNvPr id="233" name="Google Shape;233;p22"/>
          <p:cNvSpPr/>
          <p:nvPr/>
        </p:nvSpPr>
        <p:spPr>
          <a:xfrm>
            <a:off x="775216" y="7144583"/>
            <a:ext cx="13079968" cy="524351"/>
          </a:xfrm>
          <a:prstGeom prst="rect">
            <a:avLst/>
          </a:prstGeom>
          <a:noFill/>
          <a:ln>
            <a:noFill/>
          </a:ln>
        </p:spPr>
        <p:txBody>
          <a:bodyPr anchorCtr="0" anchor="t" bIns="0" lIns="0" spcFirstLastPara="1" rIns="0" wrap="square" tIns="0">
            <a:noAutofit/>
          </a:bodyPr>
          <a:lstStyle/>
          <a:p>
            <a:pPr indent="0" lvl="0" marL="0" marR="0" rtl="0" algn="l">
              <a:lnSpc>
                <a:spcPct val="151851"/>
              </a:lnSpc>
              <a:spcBef>
                <a:spcPts val="0"/>
              </a:spcBef>
              <a:spcAft>
                <a:spcPts val="0"/>
              </a:spcAft>
              <a:buClr>
                <a:srgbClr val="272525"/>
              </a:buClr>
              <a:buSzPts val="1350"/>
              <a:buFont typeface="Inter"/>
              <a:buNone/>
            </a:pPr>
            <a:r>
              <a:rPr b="1" i="0" lang="en-US" sz="1350" u="none" cap="none" strike="noStrike">
                <a:solidFill>
                  <a:srgbClr val="272525"/>
                </a:solidFill>
                <a:latin typeface="Inter"/>
                <a:ea typeface="Inter"/>
                <a:cs typeface="Inter"/>
                <a:sym typeface="Inter"/>
              </a:rPr>
              <a:t>Target deployment:</a:t>
            </a:r>
            <a:r>
              <a:rPr b="0" i="0" lang="en-US" sz="1350" u="none" cap="none" strike="noStrike">
                <a:solidFill>
                  <a:srgbClr val="272525"/>
                </a:solidFill>
                <a:latin typeface="Inter"/>
                <a:ea typeface="Inter"/>
                <a:cs typeface="Inter"/>
                <a:sym typeface="Inter"/>
              </a:rPr>
              <a:t> Municipal corporations, smart city initiatives, and government sanitation departments. Scalable architecture supports expansion from district-level to city-wide coverage.</a:t>
            </a:r>
            <a:endParaRPr b="0" i="0" sz="1350" u="none" cap="none" strike="noStrike"/>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