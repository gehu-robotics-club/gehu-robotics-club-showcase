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0"/>
  </p:notesMasterIdLst>
  <p:sldIdLst>
    <p:sldId id="256" r:id="rId2"/>
    <p:sldId id="258" r:id="rId3"/>
    <p:sldId id="260" r:id="rId4"/>
    <p:sldId id="259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62" r:id="rId18"/>
    <p:sldId id="274" r:id="rId19"/>
    <p:sldId id="275" r:id="rId20"/>
    <p:sldId id="278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90" r:id="rId32"/>
    <p:sldId id="305" r:id="rId33"/>
    <p:sldId id="306" r:id="rId34"/>
    <p:sldId id="307" r:id="rId35"/>
    <p:sldId id="308" r:id="rId36"/>
    <p:sldId id="287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9" r:id="rId60"/>
    <p:sldId id="320" r:id="rId61"/>
    <p:sldId id="317" r:id="rId62"/>
    <p:sldId id="321" r:id="rId63"/>
    <p:sldId id="324" r:id="rId64"/>
    <p:sldId id="322" r:id="rId65"/>
    <p:sldId id="323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37" r:id="rId79"/>
    <p:sldId id="338" r:id="rId80"/>
    <p:sldId id="339" r:id="rId81"/>
    <p:sldId id="340" r:id="rId82"/>
    <p:sldId id="343" r:id="rId83"/>
    <p:sldId id="341" r:id="rId84"/>
    <p:sldId id="344" r:id="rId85"/>
    <p:sldId id="342" r:id="rId86"/>
    <p:sldId id="345" r:id="rId87"/>
    <p:sldId id="348" r:id="rId88"/>
    <p:sldId id="349" r:id="rId89"/>
    <p:sldId id="350" r:id="rId90"/>
    <p:sldId id="355" r:id="rId91"/>
    <p:sldId id="356" r:id="rId92"/>
    <p:sldId id="357" r:id="rId93"/>
    <p:sldId id="358" r:id="rId94"/>
    <p:sldId id="359" r:id="rId95"/>
    <p:sldId id="360" r:id="rId96"/>
    <p:sldId id="346" r:id="rId97"/>
    <p:sldId id="347" r:id="rId98"/>
    <p:sldId id="362" r:id="rId99"/>
    <p:sldId id="365" r:id="rId100"/>
    <p:sldId id="363" r:id="rId101"/>
    <p:sldId id="366" r:id="rId102"/>
    <p:sldId id="364" r:id="rId103"/>
    <p:sldId id="361" r:id="rId104"/>
    <p:sldId id="367" r:id="rId105"/>
    <p:sldId id="368" r:id="rId106"/>
    <p:sldId id="369" r:id="rId107"/>
    <p:sldId id="370" r:id="rId108"/>
    <p:sldId id="257" r:id="rId109"/>
  </p:sldIdLst>
  <p:sldSz cx="9144000" cy="5143500" type="screen16x9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>
      <p:cViewPr varScale="1">
        <p:scale>
          <a:sx n="94" d="100"/>
          <a:sy n="94" d="100"/>
        </p:scale>
        <p:origin x="192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ATmega328 has three types of memory: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Flash memory: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32KB nonvolatile memory. This is used for storing application, which explains why you don't need to upload your application every time you unplug </a:t>
            </a:r>
            <a:r>
              <a:rPr lang="en-US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arduino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from its power source.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SRAM memory: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2KB volatile memory. This is used for storing variables used by the application while it's running.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EEPROM memory: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1KB nonvolatile memory. This can be used to store data that must be available even after the board is powered down and then powered up again.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lang="en-US" smtClean="0">
                <a:solidFill>
                  <a:srgbClr val="FFFFFF"/>
                </a:solidFill>
              </a:rPr>
              <a:pPr algn="ctr"/>
              <a:t>5/9/2025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 lang="en-US" smtClean="0"/>
              <a:pPr/>
              <a:t>5/9/2025</a:t>
            </a:fld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rPr lang="en-US" smtClean="0"/>
              <a:pPr/>
              <a:t>5/9/2025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 lang="en-US" smtClean="0"/>
              <a:pPr/>
              <a:t>5/9/2025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 lang="en-US" smtClean="0"/>
              <a:pPr/>
              <a:t>5/9/2025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rPr lang="en-US" smtClean="0"/>
              <a:pPr/>
              <a:t>5/9/2025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rPr lang="en-US" smtClean="0"/>
              <a:pPr/>
              <a:t>5/9/2025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>
              <a:buNone/>
              <a:defRPr sz="42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rPr lang="en-US" smtClean="0"/>
              <a:pPr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3200"/>
            </a:lvl1pPr>
            <a:extLst/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E4606EA6-EFEA-4C30-9264-4F9291A5780D}" type="datetime1">
              <a:rPr lang="en-US" smtClean="0"/>
              <a:pPr/>
              <a:t>5/9/2025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>
              <a:defRPr sz="2800"/>
            </a:lvl1pPr>
            <a:extLst/>
          </a:lstStyle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rPr lang="en-US" smtClean="0"/>
              <a:pPr/>
              <a:t>5/9/2025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1" latinLnBrk="0" hangingPunct="1">
        <a:spcBef>
          <a:spcPct val="0"/>
        </a:spcBef>
        <a:buNone/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10" Type="http://schemas.openxmlformats.org/officeDocument/2006/relationships/image" Target="../media/image17.jpeg"/><Relationship Id="rId4" Type="http://schemas.openxmlformats.org/officeDocument/2006/relationships/image" Target="../media/image11.jpeg"/><Relationship Id="rId9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/>
          </p:cNvSpPr>
          <p:nvPr>
            <p:ph type="title"/>
          </p:nvPr>
        </p:nvSpPr>
        <p:spPr>
          <a:xfrm>
            <a:off x="533400" y="2114550"/>
            <a:ext cx="8001000" cy="1219200"/>
          </a:xfrm>
        </p:spPr>
        <p:txBody>
          <a:bodyPr>
            <a:noAutofit/>
          </a:bodyPr>
          <a:lstStyle/>
          <a:p>
            <a:pPr algn="ctr"/>
            <a:r>
              <a:rPr lang="en-US" sz="4800" dirty="0"/>
              <a:t>Beginning Arduino </a:t>
            </a:r>
            <a:r>
              <a:rPr lang="en-US" sz="4800" dirty="0" err="1"/>
              <a:t>uno</a:t>
            </a:r>
            <a:endParaRPr lang="en-US" sz="4800" dirty="0"/>
          </a:p>
        </p:txBody>
      </p:sp>
      <p:sp>
        <p:nvSpPr>
          <p:cNvPr id="5" name="Rectangle 4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56591" y="514350"/>
            <a:ext cx="1877409" cy="18774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33350"/>
            <a:ext cx="35375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Workshop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76350"/>
            <a:ext cx="479009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461963">
              <a:buFont typeface="Wingdings" pitchFamily="2" charset="2"/>
              <a:buChar char="§"/>
            </a:pPr>
            <a:r>
              <a:rPr lang="en-US" sz="2400" dirty="0"/>
              <a:t>Introduction to Arduino</a:t>
            </a:r>
          </a:p>
          <a:p>
            <a:pPr indent="461963">
              <a:buFont typeface="Wingdings" pitchFamily="2" charset="2"/>
              <a:buChar char="§"/>
            </a:pPr>
            <a:r>
              <a:rPr lang="en-US" sz="2400" dirty="0"/>
              <a:t>Hardware and software overview</a:t>
            </a:r>
          </a:p>
          <a:p>
            <a:pPr indent="461963">
              <a:buFont typeface="Wingdings" pitchFamily="2" charset="2"/>
              <a:buChar char="§"/>
            </a:pPr>
            <a:r>
              <a:rPr lang="en-US" sz="2400" dirty="0"/>
              <a:t>Programming Arduino</a:t>
            </a:r>
          </a:p>
          <a:p>
            <a:pPr indent="461963">
              <a:buFont typeface="Wingdings" pitchFamily="2" charset="2"/>
              <a:buChar char="§"/>
            </a:pPr>
            <a:r>
              <a:rPr lang="en-US" sz="2400" dirty="0"/>
              <a:t>Led examples</a:t>
            </a:r>
          </a:p>
          <a:p>
            <a:pPr indent="461963">
              <a:buFont typeface="Wingdings" pitchFamily="2" charset="2"/>
              <a:buChar char="§"/>
            </a:pPr>
            <a:r>
              <a:rPr lang="en-US" sz="2400" dirty="0"/>
              <a:t>Sensors</a:t>
            </a:r>
          </a:p>
          <a:p>
            <a:pPr indent="461963">
              <a:buFont typeface="Wingdings" pitchFamily="2" charset="2"/>
              <a:buChar char="§"/>
            </a:pPr>
            <a:r>
              <a:rPr lang="en-US" sz="2400" dirty="0"/>
              <a:t>Using sensors</a:t>
            </a:r>
          </a:p>
          <a:p>
            <a:pPr indent="461963">
              <a:buFont typeface="Wingdings" pitchFamily="2" charset="2"/>
              <a:buChar char="§"/>
            </a:pPr>
            <a:r>
              <a:rPr lang="en-US" sz="2400" dirty="0"/>
              <a:t>Arduino in Proteus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33350"/>
            <a:ext cx="31021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What is Arduino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76350"/>
            <a:ext cx="53768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461963">
              <a:buFont typeface="Wingdings" pitchFamily="2" charset="2"/>
              <a:buChar char="§"/>
            </a:pPr>
            <a:r>
              <a:rPr lang="en-US" sz="2400" dirty="0"/>
              <a:t>A tiny computer that you can program </a:t>
            </a:r>
          </a:p>
          <a:p>
            <a:pPr indent="461963"/>
            <a:r>
              <a:rPr lang="en-US" sz="2400" dirty="0"/>
              <a:t>to process input and outputs.</a:t>
            </a:r>
          </a:p>
          <a:p>
            <a:pPr indent="461963">
              <a:buFont typeface="Wingdings" pitchFamily="2" charset="2"/>
              <a:buChar char="§"/>
            </a:pPr>
            <a:endParaRPr lang="en-US" sz="2400" dirty="0"/>
          </a:p>
          <a:p>
            <a:pPr indent="461963">
              <a:buFont typeface="Wingdings" pitchFamily="2" charset="2"/>
              <a:buChar char="§"/>
            </a:pPr>
            <a:endParaRPr lang="en-US" sz="2400" dirty="0"/>
          </a:p>
          <a:p>
            <a:pPr indent="461963">
              <a:buFont typeface="Wingdings" pitchFamily="2" charset="2"/>
              <a:buChar char="§"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33350"/>
            <a:ext cx="53571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Projects we made using Arduino</a:t>
            </a:r>
          </a:p>
        </p:txBody>
      </p:sp>
      <p:pic>
        <p:nvPicPr>
          <p:cNvPr id="1026" name="Picture 2" descr="E:\MEMORIES\GEHU\IMG_20180514_21111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0" y="819150"/>
            <a:ext cx="1371600" cy="1828800"/>
          </a:xfrm>
          <a:prstGeom prst="rect">
            <a:avLst/>
          </a:prstGeom>
          <a:noFill/>
          <a:effectLst>
            <a:softEdge rad="63500"/>
          </a:effectLst>
        </p:spPr>
      </p:pic>
      <p:pic>
        <p:nvPicPr>
          <p:cNvPr id="1027" name="Picture 3" descr="E:\MEMORIES\GEHU\ECE_DEPARTMENT\DATA\2_ROBO\IMG_20180519_15595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276350"/>
            <a:ext cx="1981200" cy="1485900"/>
          </a:xfrm>
          <a:prstGeom prst="rect">
            <a:avLst/>
          </a:prstGeom>
          <a:noFill/>
          <a:effectLst>
            <a:softEdge rad="63500"/>
          </a:effectLst>
        </p:spPr>
      </p:pic>
      <p:pic>
        <p:nvPicPr>
          <p:cNvPr id="1028" name="Picture 4" descr="E:\MEMORIES\GEHU\ECE_DEPARTMENT\DATA\2_ROBO\IMG_20180519_16033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0" y="1809750"/>
            <a:ext cx="2438400" cy="1828800"/>
          </a:xfrm>
          <a:prstGeom prst="rect">
            <a:avLst/>
          </a:prstGeom>
          <a:noFill/>
          <a:effectLst>
            <a:softEdge rad="63500"/>
          </a:effectLst>
        </p:spPr>
      </p:pic>
      <p:pic>
        <p:nvPicPr>
          <p:cNvPr id="1029" name="Picture 5" descr="E:\MEMORIES\GEHU\ECE_DEPARTMENT\DATA\si\skillindia6.jpg"/>
          <p:cNvPicPr>
            <a:picLocks noChangeAspect="1" noChangeArrowheads="1"/>
          </p:cNvPicPr>
          <p:nvPr/>
        </p:nvPicPr>
        <p:blipFill>
          <a:blip r:embed="rId5" cstate="print"/>
          <a:srcRect r="26087"/>
          <a:stretch>
            <a:fillRect/>
          </a:stretch>
        </p:blipFill>
        <p:spPr bwMode="auto">
          <a:xfrm>
            <a:off x="228600" y="3409950"/>
            <a:ext cx="1447800" cy="1359458"/>
          </a:xfrm>
          <a:prstGeom prst="rect">
            <a:avLst/>
          </a:prstGeom>
          <a:ln>
            <a:noFill/>
          </a:ln>
          <a:effectLst>
            <a:softEdge rad="63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33350"/>
            <a:ext cx="473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Arduino Uno R3 Hardware  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lum contrast="10000"/>
          </a:blip>
          <a:srcRect/>
          <a:stretch>
            <a:fillRect/>
          </a:stretch>
        </p:blipFill>
        <p:spPr bwMode="auto">
          <a:xfrm>
            <a:off x="1828800" y="1171821"/>
            <a:ext cx="5112822" cy="3533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33350"/>
            <a:ext cx="28552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Arduino Uno R3 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71550"/>
            <a:ext cx="5112822" cy="3533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2286000" y="3028950"/>
            <a:ext cx="2590800" cy="8382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 cstate="print"/>
          <a:srcRect l="44856" t="58430" r="4471" b="18169"/>
          <a:stretch>
            <a:fillRect/>
          </a:stretch>
        </p:blipFill>
        <p:spPr bwMode="auto">
          <a:xfrm>
            <a:off x="5410200" y="438150"/>
            <a:ext cx="3581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5334000" y="1904821"/>
            <a:ext cx="359983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Atmega</a:t>
            </a:r>
            <a:r>
              <a:rPr lang="en-US" sz="2400" dirty="0"/>
              <a:t> 328 microcontroller</a:t>
            </a:r>
          </a:p>
          <a:p>
            <a:r>
              <a:rPr lang="en-US" sz="2400" dirty="0"/>
              <a:t>Controlling unit</a:t>
            </a:r>
          </a:p>
          <a:p>
            <a:r>
              <a:rPr lang="en-US" sz="2400" dirty="0"/>
              <a:t>Controls all the operations</a:t>
            </a:r>
          </a:p>
          <a:p>
            <a:r>
              <a:rPr lang="en-US" sz="2400" dirty="0"/>
              <a:t>Has inbuilt memory</a:t>
            </a:r>
          </a:p>
          <a:p>
            <a:r>
              <a:rPr lang="en-US" sz="2400" dirty="0"/>
              <a:t>Operates at 5V dc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33350"/>
            <a:ext cx="28552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Arduino Uno R3 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71550"/>
            <a:ext cx="5112822" cy="3533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0" y="1581150"/>
            <a:ext cx="1219200" cy="9144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 cstate="print"/>
          <a:srcRect l="652" t="15139" r="75629" b="55610"/>
          <a:stretch>
            <a:fillRect/>
          </a:stretch>
        </p:blipFill>
        <p:spPr bwMode="auto">
          <a:xfrm>
            <a:off x="6324600" y="285750"/>
            <a:ext cx="167640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5334000" y="1904821"/>
            <a:ext cx="34494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USB port</a:t>
            </a:r>
          </a:p>
          <a:p>
            <a:r>
              <a:rPr lang="en-US" sz="2400" dirty="0"/>
              <a:t>To connect </a:t>
            </a:r>
            <a:r>
              <a:rPr lang="en-US" sz="2400" dirty="0" err="1"/>
              <a:t>arduino</a:t>
            </a:r>
            <a:r>
              <a:rPr lang="en-US" sz="2400" dirty="0"/>
              <a:t> with PC</a:t>
            </a:r>
          </a:p>
          <a:p>
            <a:r>
              <a:rPr lang="en-US" sz="2400" dirty="0"/>
              <a:t>Used for uploading code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33350"/>
            <a:ext cx="28552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Arduino Uno R3 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71550"/>
            <a:ext cx="5112822" cy="3533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1600200" y="1962150"/>
            <a:ext cx="609600" cy="5334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 cstate="print"/>
          <a:srcRect l="30840" t="27619" r="57301" b="56780"/>
          <a:stretch>
            <a:fillRect/>
          </a:stretch>
        </p:blipFill>
        <p:spPr bwMode="auto">
          <a:xfrm>
            <a:off x="6400800" y="341168"/>
            <a:ext cx="1447800" cy="1316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5334000" y="1904821"/>
            <a:ext cx="36719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USB controller chip</a:t>
            </a:r>
          </a:p>
          <a:p>
            <a:r>
              <a:rPr lang="en-US" sz="2400" dirty="0"/>
              <a:t>Manages data transfer from</a:t>
            </a:r>
          </a:p>
          <a:p>
            <a:r>
              <a:rPr lang="en-US" sz="2400" dirty="0"/>
              <a:t>PC to Arduino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33350"/>
            <a:ext cx="28552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Arduino Uno R3 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71550"/>
            <a:ext cx="5112822" cy="3533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152400" y="3562350"/>
            <a:ext cx="1371600" cy="9144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 cstate="print"/>
          <a:srcRect l="5875" t="72123" r="71032" b="104"/>
          <a:stretch>
            <a:fillRect/>
          </a:stretch>
        </p:blipFill>
        <p:spPr bwMode="auto">
          <a:xfrm>
            <a:off x="5943600" y="285750"/>
            <a:ext cx="2017131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5334000" y="1904821"/>
            <a:ext cx="39324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External power jack  </a:t>
            </a:r>
          </a:p>
          <a:p>
            <a:r>
              <a:rPr lang="en-IN" sz="2400" dirty="0"/>
              <a:t>Adaptor connection 6V to 12V</a:t>
            </a:r>
          </a:p>
          <a:p>
            <a:r>
              <a:rPr lang="en-IN" sz="2400" dirty="0"/>
              <a:t>	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33350"/>
            <a:ext cx="28552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Arduino Uno R3 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71550"/>
            <a:ext cx="5112822" cy="3533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609600" y="3028950"/>
            <a:ext cx="838200" cy="6096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 cstate="print"/>
          <a:srcRect l="13726" t="59499" r="70571" b="25352"/>
          <a:stretch>
            <a:fillRect/>
          </a:stretch>
        </p:blipFill>
        <p:spPr bwMode="auto">
          <a:xfrm>
            <a:off x="6019800" y="361950"/>
            <a:ext cx="18288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5334000" y="1904821"/>
            <a:ext cx="37195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7805 voltage regulator</a:t>
            </a:r>
          </a:p>
          <a:p>
            <a:r>
              <a:rPr lang="en-IN" sz="2400" dirty="0"/>
              <a:t>Converts 12V input to 5 volts</a:t>
            </a:r>
          </a:p>
          <a:p>
            <a:r>
              <a:rPr lang="en-IN" sz="2400" dirty="0"/>
              <a:t>To power the microcontroller </a:t>
            </a:r>
          </a:p>
          <a:p>
            <a:r>
              <a:rPr lang="en-IN" sz="2400" dirty="0"/>
              <a:t>	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33350"/>
            <a:ext cx="28552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Arduino Uno R3 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71550"/>
            <a:ext cx="5112822" cy="3533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1828800" y="3333750"/>
            <a:ext cx="381000" cy="3048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 cstate="print"/>
          <a:srcRect l="34664" t="66127" r="55522" b="24405"/>
          <a:stretch>
            <a:fillRect/>
          </a:stretch>
        </p:blipFill>
        <p:spPr bwMode="auto">
          <a:xfrm>
            <a:off x="6324600" y="438150"/>
            <a:ext cx="16002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5334000" y="1904821"/>
            <a:ext cx="32038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voltage regulator 3 volts</a:t>
            </a:r>
          </a:p>
          <a:p>
            <a:r>
              <a:rPr lang="en-IN" sz="2400" dirty="0"/>
              <a:t>	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33350"/>
            <a:ext cx="28552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Arduino Uno R3 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71550"/>
            <a:ext cx="5112822" cy="3533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1828800" y="3333750"/>
            <a:ext cx="381000" cy="3048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 cstate="print"/>
          <a:srcRect l="34664" t="66127" r="55522" b="24405"/>
          <a:stretch>
            <a:fillRect/>
          </a:stretch>
        </p:blipFill>
        <p:spPr bwMode="auto">
          <a:xfrm>
            <a:off x="6324600" y="438150"/>
            <a:ext cx="16002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5334000" y="1904821"/>
            <a:ext cx="32038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voltage regulator 3 volts</a:t>
            </a:r>
          </a:p>
          <a:p>
            <a:r>
              <a:rPr lang="en-IN" sz="2400" dirty="0"/>
              <a:t>	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33350"/>
            <a:ext cx="28552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Arduino Uno R3 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71550"/>
            <a:ext cx="5112822" cy="3533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1371600" y="2495550"/>
            <a:ext cx="838200" cy="5334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 cstate="print"/>
          <a:srcRect l="27654" t="43810" r="56457" b="42664"/>
          <a:stretch>
            <a:fillRect/>
          </a:stretch>
        </p:blipFill>
        <p:spPr bwMode="auto">
          <a:xfrm>
            <a:off x="5486400" y="209550"/>
            <a:ext cx="25908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5334000" y="1904821"/>
            <a:ext cx="36212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Crystal oscillator</a:t>
            </a:r>
          </a:p>
          <a:p>
            <a:r>
              <a:rPr lang="en-IN" sz="2400" dirty="0"/>
              <a:t>Provide clock pulses</a:t>
            </a:r>
          </a:p>
          <a:p>
            <a:r>
              <a:rPr lang="en-IN" sz="2400" dirty="0"/>
              <a:t>Synchronizes all components</a:t>
            </a:r>
          </a:p>
          <a:p>
            <a:r>
              <a:rPr lang="en-IN" sz="2400" dirty="0"/>
              <a:t>	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33350"/>
            <a:ext cx="28552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Arduino Uno R3 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71550"/>
            <a:ext cx="5112822" cy="3533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2133600" y="1962150"/>
            <a:ext cx="457200" cy="3810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 cstate="print"/>
          <a:srcRect l="40739" t="28255" r="49447" b="60924"/>
          <a:stretch>
            <a:fillRect/>
          </a:stretch>
        </p:blipFill>
        <p:spPr bwMode="auto">
          <a:xfrm>
            <a:off x="6096000" y="285750"/>
            <a:ext cx="1981200" cy="1509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5334000" y="1904821"/>
            <a:ext cx="377218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Transmitter and Receiver LED</a:t>
            </a:r>
          </a:p>
          <a:p>
            <a:r>
              <a:rPr lang="en-IN" sz="2400" dirty="0"/>
              <a:t>Blinks when program is </a:t>
            </a:r>
          </a:p>
          <a:p>
            <a:r>
              <a:rPr lang="en-IN" sz="2400" dirty="0"/>
              <a:t>Uploaded or data is send or </a:t>
            </a:r>
          </a:p>
          <a:p>
            <a:r>
              <a:rPr lang="en-IN" sz="2400" dirty="0"/>
              <a:t>Received serially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33350"/>
            <a:ext cx="28552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Arduino Uno R3 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71550"/>
            <a:ext cx="5112822" cy="3533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4191000" y="1962150"/>
            <a:ext cx="457200" cy="3048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 cstate="print"/>
          <a:srcRect l="82261" t="28255" r="7169" b="65736"/>
          <a:stretch>
            <a:fillRect/>
          </a:stretch>
        </p:blipFill>
        <p:spPr bwMode="auto">
          <a:xfrm>
            <a:off x="5715000" y="438150"/>
            <a:ext cx="2860964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5334000" y="1904821"/>
            <a:ext cx="33842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Power on LED</a:t>
            </a:r>
          </a:p>
          <a:p>
            <a:r>
              <a:rPr lang="en-IN" sz="2400" dirty="0"/>
              <a:t>Indicates that the Arduino </a:t>
            </a:r>
          </a:p>
          <a:p>
            <a:r>
              <a:rPr lang="en-IN" sz="2400" dirty="0"/>
              <a:t>Board is 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33350"/>
            <a:ext cx="28552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Arduino Uno R3 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71550"/>
            <a:ext cx="5112822" cy="3533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685800" y="971550"/>
            <a:ext cx="609600" cy="5334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 cstate="print"/>
          <a:srcRect l="13159" t="654" r="75299" b="85087"/>
          <a:stretch>
            <a:fillRect/>
          </a:stretch>
        </p:blipFill>
        <p:spPr bwMode="auto">
          <a:xfrm>
            <a:off x="6019800" y="285750"/>
            <a:ext cx="1852204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5334000" y="1904821"/>
            <a:ext cx="35157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Reset button </a:t>
            </a:r>
          </a:p>
          <a:p>
            <a:r>
              <a:rPr lang="en-IN" sz="2400" dirty="0"/>
              <a:t>Used to reset the board to </a:t>
            </a:r>
          </a:p>
          <a:p>
            <a:r>
              <a:rPr lang="en-IN" sz="2400" dirty="0"/>
              <a:t>Initial condition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33350"/>
            <a:ext cx="42374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Arduino Uno R3 Pin Pout </a:t>
            </a:r>
          </a:p>
        </p:txBody>
      </p:sp>
      <p:pic>
        <p:nvPicPr>
          <p:cNvPr id="2050" name="Picture 2" descr="Arduino UNO R3 Pinout"/>
          <p:cNvPicPr>
            <a:picLocks noChangeAspect="1" noChangeArrowheads="1"/>
          </p:cNvPicPr>
          <p:nvPr/>
        </p:nvPicPr>
        <p:blipFill>
          <a:blip r:embed="rId2" cstate="print"/>
          <a:srcRect t="11364" b="11713"/>
          <a:stretch>
            <a:fillRect/>
          </a:stretch>
        </p:blipFill>
        <p:spPr bwMode="auto">
          <a:xfrm>
            <a:off x="914400" y="678474"/>
            <a:ext cx="7056120" cy="443132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33350"/>
            <a:ext cx="28666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/>
              <a:t>Arduino</a:t>
            </a:r>
            <a:r>
              <a:rPr lang="en-US" sz="3200" dirty="0"/>
              <a:t> Variants</a:t>
            </a:r>
          </a:p>
        </p:txBody>
      </p:sp>
      <p:pic>
        <p:nvPicPr>
          <p:cNvPr id="20482" name="Picture 2" descr="Duemilanove"/>
          <p:cNvPicPr>
            <a:picLocks noChangeAspect="1" noChangeArrowheads="1"/>
          </p:cNvPicPr>
          <p:nvPr/>
        </p:nvPicPr>
        <p:blipFill>
          <a:blip r:embed="rId2" cstate="print">
            <a:lum bright="10000" contrast="10000"/>
          </a:blip>
          <a:stretch>
            <a:fillRect/>
          </a:stretch>
        </p:blipFill>
        <p:spPr bwMode="auto">
          <a:xfrm>
            <a:off x="-1" y="680760"/>
            <a:ext cx="2031123" cy="1357590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</p:spPr>
      </p:pic>
      <p:pic>
        <p:nvPicPr>
          <p:cNvPr id="20484" name="Picture 4" descr="ArduinoDiecimila"/>
          <p:cNvPicPr>
            <a:picLocks noChangeAspect="1" noChangeArrowheads="1"/>
          </p:cNvPicPr>
          <p:nvPr/>
        </p:nvPicPr>
        <p:blipFill>
          <a:blip r:embed="rId3" cstate="print">
            <a:lum bright="10000" contrast="10000"/>
          </a:blip>
          <a:stretch>
            <a:fillRect/>
          </a:stretch>
        </p:blipFill>
        <p:spPr bwMode="auto">
          <a:xfrm>
            <a:off x="2159877" y="680760"/>
            <a:ext cx="2031123" cy="1357590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</p:spPr>
      </p:pic>
      <p:pic>
        <p:nvPicPr>
          <p:cNvPr id="20494" name="Picture 14" descr="ARDUINO NANO 3.0"/>
          <p:cNvPicPr>
            <a:picLocks noChangeAspect="1" noChangeArrowheads="1"/>
          </p:cNvPicPr>
          <p:nvPr/>
        </p:nvPicPr>
        <p:blipFill>
          <a:blip r:embed="rId4" cstate="print">
            <a:lum bright="10000" contrast="10000"/>
          </a:blip>
          <a:srcRect l="18856" t="21463" r="20806" b="27626"/>
          <a:stretch>
            <a:fillRect/>
          </a:stretch>
        </p:blipFill>
        <p:spPr bwMode="auto">
          <a:xfrm>
            <a:off x="2057400" y="3562350"/>
            <a:ext cx="2302933" cy="1371600"/>
          </a:xfrm>
          <a:prstGeom prst="rect">
            <a:avLst/>
          </a:prstGeom>
          <a:noFill/>
          <a:effectLst>
            <a:softEdge rad="63500"/>
          </a:effectLst>
        </p:spPr>
      </p:pic>
      <p:pic>
        <p:nvPicPr>
          <p:cNvPr id="20496" name="Picture 16" descr="ARDUINOMINI04"/>
          <p:cNvPicPr>
            <a:picLocks noChangeAspect="1" noChangeArrowheads="1"/>
          </p:cNvPicPr>
          <p:nvPr/>
        </p:nvPicPr>
        <p:blipFill>
          <a:blip r:embed="rId5" cstate="print">
            <a:lum bright="10000" contrast="10000"/>
          </a:blip>
          <a:srcRect/>
          <a:stretch>
            <a:fillRect/>
          </a:stretch>
        </p:blipFill>
        <p:spPr bwMode="auto">
          <a:xfrm>
            <a:off x="4522077" y="3581621"/>
            <a:ext cx="2031123" cy="1352329"/>
          </a:xfrm>
          <a:prstGeom prst="rect">
            <a:avLst/>
          </a:prstGeom>
          <a:noFill/>
          <a:effectLst>
            <a:softEdge rad="63500"/>
          </a:effectLst>
        </p:spPr>
      </p:pic>
      <p:pic>
        <p:nvPicPr>
          <p:cNvPr id="20498" name="Picture 18" descr="ARDUINOSTAMP02"/>
          <p:cNvPicPr>
            <a:picLocks noChangeAspect="1" noChangeArrowheads="1"/>
          </p:cNvPicPr>
          <p:nvPr/>
        </p:nvPicPr>
        <p:blipFill>
          <a:blip r:embed="rId6" cstate="print">
            <a:lum bright="10000" contrast="10000"/>
          </a:blip>
          <a:srcRect/>
          <a:stretch>
            <a:fillRect/>
          </a:stretch>
        </p:blipFill>
        <p:spPr bwMode="auto">
          <a:xfrm>
            <a:off x="6781800" y="3562350"/>
            <a:ext cx="2031123" cy="1352108"/>
          </a:xfrm>
          <a:prstGeom prst="rect">
            <a:avLst/>
          </a:prstGeom>
          <a:noFill/>
          <a:effectLst>
            <a:softEdge rad="63500"/>
          </a:effectLst>
        </p:spPr>
      </p:pic>
      <p:pic>
        <p:nvPicPr>
          <p:cNvPr id="20492" name="Picture 12" descr="LilyPad_03/04"/>
          <p:cNvPicPr>
            <a:picLocks noChangeAspect="1" noChangeArrowheads="1"/>
          </p:cNvPicPr>
          <p:nvPr/>
        </p:nvPicPr>
        <p:blipFill>
          <a:blip r:embed="rId7" cstate="print">
            <a:lum bright="10000" contrast="10000"/>
          </a:blip>
          <a:srcRect/>
          <a:stretch>
            <a:fillRect/>
          </a:stretch>
        </p:blipFill>
        <p:spPr bwMode="auto">
          <a:xfrm>
            <a:off x="3429000" y="2133821"/>
            <a:ext cx="2031123" cy="1352329"/>
          </a:xfrm>
          <a:prstGeom prst="rect">
            <a:avLst/>
          </a:prstGeom>
          <a:noFill/>
          <a:effectLst>
            <a:softEdge rad="63500"/>
          </a:effectLst>
        </p:spPr>
      </p:pic>
      <p:pic>
        <p:nvPicPr>
          <p:cNvPr id="20490" name="Picture 10" descr="ARDUINO MEGA"/>
          <p:cNvPicPr>
            <a:picLocks noChangeAspect="1" noChangeArrowheads="1"/>
          </p:cNvPicPr>
          <p:nvPr/>
        </p:nvPicPr>
        <p:blipFill>
          <a:blip r:embed="rId8" cstate="print">
            <a:lum bright="10000" contrast="10000"/>
          </a:blip>
          <a:srcRect/>
          <a:stretch>
            <a:fillRect/>
          </a:stretch>
        </p:blipFill>
        <p:spPr bwMode="auto">
          <a:xfrm>
            <a:off x="6629400" y="590550"/>
            <a:ext cx="2172144" cy="1446222"/>
          </a:xfrm>
          <a:prstGeom prst="rect">
            <a:avLst/>
          </a:prstGeom>
          <a:noFill/>
          <a:effectLst>
            <a:softEdge rad="63500"/>
          </a:effectLst>
        </p:spPr>
      </p:pic>
      <p:pic>
        <p:nvPicPr>
          <p:cNvPr id="20488" name="Picture 8" descr="ARDUINO USB v2 240"/>
          <p:cNvPicPr>
            <a:picLocks noChangeAspect="1" noChangeArrowheads="1"/>
          </p:cNvPicPr>
          <p:nvPr/>
        </p:nvPicPr>
        <p:blipFill>
          <a:blip r:embed="rId9" cstate="print">
            <a:lum bright="10000" contrast="10000"/>
          </a:blip>
          <a:srcRect/>
          <a:stretch>
            <a:fillRect/>
          </a:stretch>
        </p:blipFill>
        <p:spPr bwMode="auto">
          <a:xfrm>
            <a:off x="4293477" y="675498"/>
            <a:ext cx="2031123" cy="1362852"/>
          </a:xfrm>
          <a:prstGeom prst="rect">
            <a:avLst/>
          </a:prstGeom>
          <a:noFill/>
          <a:effectLst>
            <a:softEdge rad="63500"/>
          </a:effectLst>
        </p:spPr>
      </p:pic>
      <p:pic>
        <p:nvPicPr>
          <p:cNvPr id="20486" name="Picture 6" descr="ArduinoBT"/>
          <p:cNvPicPr>
            <a:picLocks noChangeAspect="1" noChangeArrowheads="1"/>
          </p:cNvPicPr>
          <p:nvPr/>
        </p:nvPicPr>
        <p:blipFill>
          <a:blip r:embed="rId10" cstate="print">
            <a:lum bright="10000" contrast="10000"/>
          </a:blip>
          <a:srcRect/>
          <a:stretch>
            <a:fillRect/>
          </a:stretch>
        </p:blipFill>
        <p:spPr bwMode="auto">
          <a:xfrm>
            <a:off x="0" y="3577191"/>
            <a:ext cx="2031123" cy="1352329"/>
          </a:xfrm>
          <a:prstGeom prst="rect">
            <a:avLst/>
          </a:prstGeom>
          <a:noFill/>
          <a:effectLst>
            <a:softEdge rad="63500"/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33350"/>
            <a:ext cx="26949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Arduino Shields</a:t>
            </a:r>
          </a:p>
        </p:txBody>
      </p:sp>
      <p:pic>
        <p:nvPicPr>
          <p:cNvPr id="35842" name="Picture 2" descr="arduino shields images à¤à¥ à¤²à¤¿à¤ à¤à¤®à¥à¤ à¤ªà¤°à¤¿à¤£à¤¾à¤®"/>
          <p:cNvPicPr>
            <a:picLocks noChangeAspect="1" noChangeArrowheads="1"/>
          </p:cNvPicPr>
          <p:nvPr/>
        </p:nvPicPr>
        <p:blipFill>
          <a:blip r:embed="rId2" cstate="print">
            <a:lum contrast="10000"/>
          </a:blip>
          <a:srcRect/>
          <a:stretch>
            <a:fillRect/>
          </a:stretch>
        </p:blipFill>
        <p:spPr bwMode="auto">
          <a:xfrm>
            <a:off x="0" y="3409950"/>
            <a:ext cx="9144000" cy="1733550"/>
          </a:xfrm>
          <a:prstGeom prst="rect">
            <a:avLst/>
          </a:prstGeom>
          <a:noFill/>
        </p:spPr>
      </p:pic>
      <p:sp>
        <p:nvSpPr>
          <p:cNvPr id="35844" name="AutoShape 4" descr="arduino shields images with name à¤à¥ à¤²à¤¿à¤ à¤à¤®à¥à¤ à¤ªà¤°à¤¿à¤£à¤¾à¤®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6" name="AutoShape 6" descr="arduino shields images with name à¤à¥ à¤²à¤¿à¤ à¤à¤®à¥à¤ à¤ªà¤°à¤¿à¤£à¤¾à¤®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5848" name="Picture 8" descr="arduino shields images with name à¤à¥ à¤²à¤¿à¤ à¤à¤®à¥à¤ à¤ªà¤°à¤¿à¤£à¤¾à¤®"/>
          <p:cNvPicPr>
            <a:picLocks noChangeAspect="1" noChangeArrowheads="1"/>
          </p:cNvPicPr>
          <p:nvPr/>
        </p:nvPicPr>
        <p:blipFill>
          <a:blip r:embed="rId3" cstate="print">
            <a:lum bright="10000"/>
          </a:blip>
          <a:srcRect/>
          <a:stretch>
            <a:fillRect/>
          </a:stretch>
        </p:blipFill>
        <p:spPr bwMode="auto">
          <a:xfrm>
            <a:off x="152400" y="742950"/>
            <a:ext cx="2281382" cy="14478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762000" y="2114550"/>
            <a:ext cx="1181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Wifi</a:t>
            </a:r>
            <a:r>
              <a:rPr lang="en-US" dirty="0"/>
              <a:t> shield</a:t>
            </a:r>
          </a:p>
        </p:txBody>
      </p:sp>
      <p:pic>
        <p:nvPicPr>
          <p:cNvPr id="35850" name="Picture 10" descr="arduino shields images with name à¤à¥ à¤²à¤¿à¤ à¤à¤®à¥à¤ à¤ªà¤°à¤¿à¤£à¤¾à¤®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67000" y="666750"/>
            <a:ext cx="1929062" cy="1527175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2819400" y="2114550"/>
            <a:ext cx="1511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Ethernet shield</a:t>
            </a:r>
          </a:p>
        </p:txBody>
      </p:sp>
      <p:pic>
        <p:nvPicPr>
          <p:cNvPr id="35852" name="Picture 12" descr="à¤¸à¤à¤¬à¤à¤§à¤¿à¤¤ à¤à¤®à¥à¤"/>
          <p:cNvPicPr>
            <a:picLocks noChangeAspect="1" noChangeArrowheads="1"/>
          </p:cNvPicPr>
          <p:nvPr/>
        </p:nvPicPr>
        <p:blipFill>
          <a:blip r:embed="rId5" cstate="print"/>
          <a:srcRect l="3571" t="9870" r="10714" b="16104"/>
          <a:stretch>
            <a:fillRect/>
          </a:stretch>
        </p:blipFill>
        <p:spPr bwMode="auto">
          <a:xfrm>
            <a:off x="4572000" y="666750"/>
            <a:ext cx="2194560" cy="1371600"/>
          </a:xfrm>
          <a:prstGeom prst="rect">
            <a:avLst/>
          </a:prstGeom>
          <a:noFill/>
        </p:spPr>
      </p:pic>
      <p:sp>
        <p:nvSpPr>
          <p:cNvPr id="21" name="TextBox 20"/>
          <p:cNvSpPr txBox="1"/>
          <p:nvPr/>
        </p:nvSpPr>
        <p:spPr>
          <a:xfrm>
            <a:off x="5105400" y="2114550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Motor shield</a:t>
            </a:r>
          </a:p>
        </p:txBody>
      </p:sp>
      <p:pic>
        <p:nvPicPr>
          <p:cNvPr id="35854" name="Picture 14" descr="arduino shields images with name à¤à¥ à¤²à¤¿à¤ à¤à¤®à¥à¤ à¤ªà¤°à¤¿à¤£à¤¾à¤®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81800" y="666750"/>
            <a:ext cx="2133600" cy="1428750"/>
          </a:xfrm>
          <a:prstGeom prst="rect">
            <a:avLst/>
          </a:prstGeom>
          <a:noFill/>
        </p:spPr>
      </p:pic>
      <p:sp>
        <p:nvSpPr>
          <p:cNvPr id="23" name="TextBox 22"/>
          <p:cNvSpPr txBox="1"/>
          <p:nvPr/>
        </p:nvSpPr>
        <p:spPr>
          <a:xfrm>
            <a:off x="7162800" y="2114550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GSM shield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7208" y="2952750"/>
            <a:ext cx="2893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Connecting Shields to </a:t>
            </a:r>
            <a:r>
              <a:rPr lang="en-US" dirty="0" err="1"/>
              <a:t>arduino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33350"/>
            <a:ext cx="26949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Arduino Shields</a:t>
            </a:r>
          </a:p>
        </p:txBody>
      </p:sp>
      <p:sp>
        <p:nvSpPr>
          <p:cNvPr id="35844" name="AutoShape 4" descr="arduino shields images with name à¤à¥ à¤²à¤¿à¤ à¤à¤®à¥à¤ à¤ªà¤°à¤¿à¤£à¤¾à¤®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6" name="AutoShape 6" descr="arduino shields images with name à¤à¥ à¤²à¤¿à¤ à¤à¤®à¥à¤ à¤ªà¤°à¤¿à¤£à¤¾à¤®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6866" name="Picture 2" descr="à¤¸à¤à¤¬à¤à¤§à¤¿à¤¤ à¤à¤®à¥à¤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114550"/>
            <a:ext cx="2057400" cy="2057400"/>
          </a:xfrm>
          <a:prstGeom prst="rect">
            <a:avLst/>
          </a:prstGeom>
          <a:noFill/>
          <a:effectLst>
            <a:softEdge rad="63500"/>
          </a:effectLst>
        </p:spPr>
      </p:pic>
      <p:pic>
        <p:nvPicPr>
          <p:cNvPr id="36868" name="Picture 4" descr="à¤¸à¤à¤¬à¤à¤§à¤¿à¤¤ à¤à¤®à¥à¤"/>
          <p:cNvPicPr>
            <a:picLocks noChangeAspect="1" noChangeArrowheads="1"/>
          </p:cNvPicPr>
          <p:nvPr/>
        </p:nvPicPr>
        <p:blipFill>
          <a:blip r:embed="rId3" cstate="print">
            <a:lum bright="30000" contrast="40000"/>
          </a:blip>
          <a:srcRect/>
          <a:stretch>
            <a:fillRect/>
          </a:stretch>
        </p:blipFill>
        <p:spPr bwMode="auto">
          <a:xfrm>
            <a:off x="2514600" y="742950"/>
            <a:ext cx="1981201" cy="1981201"/>
          </a:xfrm>
          <a:prstGeom prst="rect">
            <a:avLst/>
          </a:prstGeom>
          <a:noFill/>
          <a:effectLst>
            <a:softEdge rad="63500"/>
          </a:effectLst>
        </p:spPr>
      </p:pic>
      <p:pic>
        <p:nvPicPr>
          <p:cNvPr id="18" name="Picture Placeholder 6"/>
          <p:cNvPicPr>
            <a:picLocks noChangeAspect="1"/>
          </p:cNvPicPr>
          <p:nvPr/>
        </p:nvPicPr>
        <p:blipFill>
          <a:blip r:embed="rId4" cstate="print">
            <a:lum contrast="10000"/>
          </a:blip>
          <a:srcRect t="12500" b="12500"/>
          <a:stretch>
            <a:fillRect/>
          </a:stretch>
        </p:blipFill>
        <p:spPr>
          <a:xfrm>
            <a:off x="4644960" y="178162"/>
            <a:ext cx="3327702" cy="18718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 cstate="print">
            <a:lum contrast="1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230" b="97541" l="2500" r="97917">
                        <a14:foregroundMark x1="90000" y1="13934" x2="79167" y2="4508"/>
                        <a14:foregroundMark x1="79167" y1="4508" x2="52500" y2="10656"/>
                        <a14:foregroundMark x1="76667" y1="12705" x2="49167" y2="17623"/>
                        <a14:foregroundMark x1="10000" y1="50000" x2="17083" y2="56967"/>
                        <a14:foregroundMark x1="31667" y1="92623" x2="79167" y2="69672"/>
                        <a14:backgroundMark x1="34583" y1="95082" x2="77083" y2="73770"/>
                        <a14:backgroundMark x1="74167" y1="51639" x2="76250" y2="58607"/>
                        <a14:backgroundMark x1="72083" y1="58607" x2="78333" y2="586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19800" y="2241647"/>
            <a:ext cx="2854282" cy="29018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 cstate="print">
            <a:lum contrast="1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100000" l="3318" r="94851">
                        <a14:foregroundMark x1="8009" y1="69969" x2="9268" y2="74303"/>
                        <a14:backgroundMark x1="16476" y1="88235" x2="43364" y2="97214"/>
                        <a14:backgroundMark x1="21854" y1="85139" x2="45538" y2="965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5600" y="2724150"/>
            <a:ext cx="2873190" cy="21236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33350"/>
            <a:ext cx="832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Want More Information about Boards and Shields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219075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https://www.arduino.cc/en/Main/Products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x\Desktop\r_Moment(11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971800" y="2038350"/>
            <a:ext cx="327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Software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0" y="209550"/>
            <a:ext cx="29466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Arduino IDE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x\Desktop\r_Mom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9050"/>
            <a:ext cx="9144000" cy="5162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x\Desktop\r_Moment.jp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0" y="-19050"/>
            <a:ext cx="9144000" cy="5162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x\Desktop\r_Moment(3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x\Desktop\r_Moment(4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x\Desktop\r_Moment(5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x\Desktop\r_Moment(6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821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x\Desktop\r_Moment(9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464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464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0" y="133350"/>
            <a:ext cx="9144000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715000" y="-7382"/>
            <a:ext cx="1074333" cy="3693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Menu bar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464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285750"/>
            <a:ext cx="91440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715000" y="209550"/>
            <a:ext cx="1136850" cy="3693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Button bar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464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514350"/>
            <a:ext cx="9144000" cy="3124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257800" y="2190750"/>
            <a:ext cx="216187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Programming window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464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0" y="3867150"/>
            <a:ext cx="8991600" cy="1066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581400" y="45529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505200" y="4324350"/>
            <a:ext cx="2547044" cy="36933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Program notification area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419600" y="2800350"/>
            <a:ext cx="103906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 menu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3657600" y="3028950"/>
            <a:ext cx="27313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Shows recently opened files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2743200" y="3028950"/>
            <a:ext cx="550740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Shows the sketches which are saved in the default location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3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3962400" y="2952750"/>
            <a:ext cx="112357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Examples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6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4267200" y="2952750"/>
            <a:ext cx="248337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Preferences or Settings 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464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464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2209800" y="742950"/>
            <a:ext cx="47244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76800" y="2343150"/>
            <a:ext cx="2738250" cy="3693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Change sketchbook location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464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2209800" y="1047750"/>
            <a:ext cx="38862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76800" y="2343150"/>
            <a:ext cx="2639249" cy="3693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Language and font options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464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0" y="2724150"/>
            <a:ext cx="9144000" cy="92333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Options to let you to cut, copy, and paste sections of code.</a:t>
            </a:r>
          </a:p>
          <a:p>
            <a:r>
              <a:rPr lang="en-US" dirty="0"/>
              <a:t>You can also Find certain words within the code. The useful Undo and Redo options are used when you make a mistake. Allows you to jump to any line of your code(used in case of long codes).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0" y="2343150"/>
            <a:ext cx="1061509" cy="3693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Edit menu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0" y="2724150"/>
            <a:ext cx="9144000" cy="64633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Contains the Verify/Compile functions and other useful functions including the Import Library option, which brings up a list of the available libraries stored within your libraries folder.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3581400" y="2419350"/>
            <a:ext cx="4038600" cy="3693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You can download additional libraries.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6019800" y="2354818"/>
            <a:ext cx="116166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Tools menu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724151"/>
            <a:ext cx="9144000" cy="92333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You can select the Board and Serial Port, when setting up the Arduino for the first time. The Auto Format function formats your code to make it look nicer. Burn </a:t>
            </a:r>
            <a:r>
              <a:rPr lang="en-US" dirty="0" err="1"/>
              <a:t>bootloader</a:t>
            </a:r>
            <a:r>
              <a:rPr lang="en-US" dirty="0"/>
              <a:t> option writes a piece of code on the chip to make it compatible with the Arduino IDE)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3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4648200" y="2724151"/>
            <a:ext cx="1143000" cy="3693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Help menu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>
            <a:stCxn id="15" idx="2"/>
            <a:endCxn id="9" idx="1"/>
          </p:cNvCxnSpPr>
          <p:nvPr/>
        </p:nvCxnSpPr>
        <p:spPr>
          <a:xfrm>
            <a:off x="114300" y="514350"/>
            <a:ext cx="4686300" cy="990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800600" y="742950"/>
            <a:ext cx="4191000" cy="152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The Verify/Compile button is used to check that your code is correct and error free before you upload it to your Arduino board.</a:t>
            </a:r>
            <a:endParaRPr lang="en-US" dirty="0">
              <a:noFill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285750"/>
            <a:ext cx="2286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>
            <a:stCxn id="15" idx="2"/>
            <a:endCxn id="9" idx="1"/>
          </p:cNvCxnSpPr>
          <p:nvPr/>
        </p:nvCxnSpPr>
        <p:spPr>
          <a:xfrm>
            <a:off x="304800" y="514350"/>
            <a:ext cx="4495800" cy="16764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800600" y="742950"/>
            <a:ext cx="4191000" cy="2895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The Upload button uploads the code within the current sketch to Arduino.</a:t>
            </a:r>
          </a:p>
          <a:p>
            <a:r>
              <a:rPr lang="en-US" dirty="0"/>
              <a:t> Make sure that you have the correct board and port selected (in the Tools menu) before</a:t>
            </a:r>
          </a:p>
          <a:p>
            <a:r>
              <a:rPr lang="en-US" dirty="0"/>
              <a:t>Uploading the code.</a:t>
            </a:r>
            <a:endParaRPr lang="en-US" dirty="0">
              <a:noFill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52400" y="285750"/>
            <a:ext cx="3048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>
            <a:stCxn id="15" idx="2"/>
            <a:endCxn id="9" idx="1"/>
          </p:cNvCxnSpPr>
          <p:nvPr/>
        </p:nvCxnSpPr>
        <p:spPr>
          <a:xfrm>
            <a:off x="495300" y="514350"/>
            <a:ext cx="4305300" cy="10287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800600" y="971550"/>
            <a:ext cx="4191000" cy="1143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The New button creates a new and blank sketch ready for you to enter your code into.</a:t>
            </a:r>
            <a:endParaRPr lang="en-US" dirty="0">
              <a:noFill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81000" y="285750"/>
            <a:ext cx="2286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>
            <a:stCxn id="15" idx="2"/>
            <a:endCxn id="9" idx="1"/>
          </p:cNvCxnSpPr>
          <p:nvPr/>
        </p:nvCxnSpPr>
        <p:spPr>
          <a:xfrm>
            <a:off x="685800" y="514350"/>
            <a:ext cx="4114800" cy="10287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800600" y="971550"/>
            <a:ext cx="4191000" cy="1143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Shows a list of sketches in your Sketchbook to open</a:t>
            </a:r>
            <a:endParaRPr lang="en-US" dirty="0">
              <a:noFill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3400" y="285750"/>
            <a:ext cx="3048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0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>
            <a:stCxn id="15" idx="2"/>
            <a:endCxn id="9" idx="1"/>
          </p:cNvCxnSpPr>
          <p:nvPr/>
        </p:nvCxnSpPr>
        <p:spPr>
          <a:xfrm>
            <a:off x="876300" y="514350"/>
            <a:ext cx="3924300" cy="10287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800600" y="971550"/>
            <a:ext cx="4191000" cy="1143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Saves the current Sketch to your Sketchbook</a:t>
            </a:r>
            <a:endParaRPr lang="en-US" dirty="0">
              <a:noFill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2000" y="285750"/>
            <a:ext cx="2286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>
            <a:stCxn id="15" idx="2"/>
            <a:endCxn id="9" idx="0"/>
          </p:cNvCxnSpPr>
          <p:nvPr/>
        </p:nvCxnSpPr>
        <p:spPr>
          <a:xfrm flipH="1">
            <a:off x="6896100" y="514350"/>
            <a:ext cx="2057400" cy="228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800600" y="742950"/>
            <a:ext cx="4191000" cy="2895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The serial monitor is a tool for debugging.</a:t>
            </a:r>
          </a:p>
          <a:p>
            <a:r>
              <a:rPr lang="en-US" dirty="0"/>
              <a:t>This feature can be extremely helpful if you are not getting the result you anticipated,</a:t>
            </a:r>
          </a:p>
          <a:p>
            <a:r>
              <a:rPr lang="en-US" dirty="0"/>
              <a:t>because it can show you exactly what is going on.</a:t>
            </a:r>
          </a:p>
          <a:p>
            <a:endParaRPr lang="en-US" dirty="0">
              <a:noFill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763000" y="285750"/>
            <a:ext cx="3810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09550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sketch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19150"/>
            <a:ext cx="80772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sketch is nothing more than a set of instructions for the Arduino to carry out. Sketches created using the Arduino IDE are saved as “</a:t>
            </a:r>
            <a:r>
              <a:rPr lang="en-US" sz="2000" dirty="0">
                <a:solidFill>
                  <a:srgbClr val="FF0000"/>
                </a:solidFill>
              </a:rPr>
              <a:t>.</a:t>
            </a:r>
            <a:r>
              <a:rPr lang="en-US" sz="2000" dirty="0" err="1">
                <a:solidFill>
                  <a:srgbClr val="FF0000"/>
                </a:solidFill>
              </a:rPr>
              <a:t>ino</a:t>
            </a:r>
            <a:r>
              <a:rPr lang="en-US" sz="2000" dirty="0"/>
              <a:t>“ </a:t>
            </a:r>
            <a:r>
              <a:rPr lang="en-US" dirty="0"/>
              <a:t>files. </a:t>
            </a:r>
          </a:p>
          <a:p>
            <a:r>
              <a:rPr lang="en-US" dirty="0"/>
              <a:t>To create a sketch, you need to make the three main parts:</a:t>
            </a:r>
          </a:p>
          <a:p>
            <a:pPr indent="461963">
              <a:buFont typeface="Arial" pitchFamily="34" charset="0"/>
              <a:buChar char="•"/>
            </a:pPr>
            <a:r>
              <a:rPr lang="en-US" dirty="0"/>
              <a:t>Variable declaration.</a:t>
            </a:r>
          </a:p>
          <a:p>
            <a:pPr indent="461963">
              <a:buFont typeface="Arial" pitchFamily="34" charset="0"/>
              <a:buChar char="•"/>
            </a:pPr>
            <a:r>
              <a:rPr lang="en-US" dirty="0"/>
              <a:t>Setup function, and</a:t>
            </a:r>
          </a:p>
          <a:p>
            <a:pPr indent="461963">
              <a:buFont typeface="Arial" pitchFamily="34" charset="0"/>
              <a:buChar char="•"/>
            </a:pPr>
            <a:r>
              <a:rPr lang="en-US" dirty="0"/>
              <a:t>Main Loop function.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0955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Variable declaration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19150"/>
            <a:ext cx="80772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Variable declaration means to type the names of each input or output that you want to use in your sketch. </a:t>
            </a:r>
          </a:p>
          <a:p>
            <a:r>
              <a:rPr lang="en-US" dirty="0"/>
              <a:t>You can </a:t>
            </a:r>
            <a:r>
              <a:rPr lang="en-US" dirty="0">
                <a:solidFill>
                  <a:srgbClr val="FF0000"/>
                </a:solidFill>
              </a:rPr>
              <a:t>rename</a:t>
            </a:r>
            <a:r>
              <a:rPr lang="en-US" dirty="0"/>
              <a:t> an Arduino input/output </a:t>
            </a:r>
            <a:r>
              <a:rPr lang="en-US" dirty="0">
                <a:solidFill>
                  <a:srgbClr val="FF0000"/>
                </a:solidFill>
              </a:rPr>
              <a:t>pin</a:t>
            </a:r>
            <a:r>
              <a:rPr lang="en-US" dirty="0"/>
              <a:t> number </a:t>
            </a:r>
            <a:r>
              <a:rPr lang="en-US" dirty="0">
                <a:solidFill>
                  <a:srgbClr val="FF0000"/>
                </a:solidFill>
              </a:rPr>
              <a:t>with any name </a:t>
            </a:r>
            <a:r>
              <a:rPr lang="en-US" dirty="0"/>
              <a:t>and you can </a:t>
            </a:r>
            <a:r>
              <a:rPr lang="en-US" dirty="0">
                <a:solidFill>
                  <a:srgbClr val="FF0000"/>
                </a:solidFill>
              </a:rPr>
              <a:t>refer</a:t>
            </a:r>
            <a:r>
              <a:rPr lang="en-US" dirty="0"/>
              <a:t> to the </a:t>
            </a:r>
            <a:r>
              <a:rPr lang="en-US" dirty="0">
                <a:solidFill>
                  <a:srgbClr val="FF0000"/>
                </a:solidFill>
              </a:rPr>
              <a:t>pin by that name throughout the sketch </a:t>
            </a:r>
            <a:r>
              <a:rPr lang="en-US" dirty="0"/>
              <a:t>rather than the pin number. </a:t>
            </a:r>
          </a:p>
          <a:p>
            <a:r>
              <a:rPr lang="en-US" dirty="0"/>
              <a:t>You can also declare a variable for a simple value (not attached to an I/O pin) and use that name to refer to the value of that variable.</a:t>
            </a:r>
          </a:p>
          <a:p>
            <a:r>
              <a:rPr lang="en-US" dirty="0"/>
              <a:t>These variables can be declared as several different types, but the most common that we use is an integer (int).</a:t>
            </a:r>
          </a:p>
          <a:p>
            <a:r>
              <a:rPr lang="en-US" dirty="0"/>
              <a:t>Other variable types are used in later examples (i.e., float, long, unsigned int, char, byte, etc.) and are explained when used.</a:t>
            </a:r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int my_led = 13;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466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" name="Straight Connector 2"/>
          <p:cNvCxnSpPr>
            <a:stCxn id="5" idx="3"/>
            <a:endCxn id="4" idx="1"/>
          </p:cNvCxnSpPr>
          <p:nvPr/>
        </p:nvCxnSpPr>
        <p:spPr>
          <a:xfrm>
            <a:off x="1828800" y="857250"/>
            <a:ext cx="2971800" cy="228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800600" y="742950"/>
            <a:ext cx="41910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Variable declaration</a:t>
            </a:r>
            <a:endParaRPr lang="en-US" dirty="0">
              <a:noFill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742950"/>
            <a:ext cx="15240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000" y="209550"/>
            <a:ext cx="86106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Setup function</a:t>
            </a:r>
          </a:p>
          <a:p>
            <a:endParaRPr lang="en-US" dirty="0"/>
          </a:p>
          <a:p>
            <a:r>
              <a:rPr lang="en-US" dirty="0"/>
              <a:t>This function runs once, each time the Arduino is powered on. </a:t>
            </a:r>
          </a:p>
          <a:p>
            <a:r>
              <a:rPr lang="en-US" dirty="0"/>
              <a:t>This is usually where we determine which of the variables declared are inputs or outputs using the </a:t>
            </a:r>
            <a:r>
              <a:rPr lang="en-US" dirty="0">
                <a:solidFill>
                  <a:srgbClr val="FF0000"/>
                </a:solidFill>
              </a:rPr>
              <a:t>pinMode() </a:t>
            </a:r>
            <a:r>
              <a:rPr lang="en-US" dirty="0"/>
              <a:t>command.</a:t>
            </a:r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pinMode(my_led, OUTPUT);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Connector 6"/>
          <p:cNvCxnSpPr>
            <a:stCxn id="9" idx="3"/>
            <a:endCxn id="8" idx="1"/>
          </p:cNvCxnSpPr>
          <p:nvPr/>
        </p:nvCxnSpPr>
        <p:spPr>
          <a:xfrm>
            <a:off x="2743200" y="1543050"/>
            <a:ext cx="2209800" cy="228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953000" y="1428750"/>
            <a:ext cx="36576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Variable input or output declaration</a:t>
            </a:r>
            <a:endParaRPr lang="en-US" dirty="0">
              <a:noFill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428750"/>
            <a:ext cx="22860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000" y="209550"/>
            <a:ext cx="86106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Loop function</a:t>
            </a:r>
          </a:p>
          <a:p>
            <a:endParaRPr lang="en-US" dirty="0"/>
          </a:p>
          <a:p>
            <a:r>
              <a:rPr lang="en-US" dirty="0"/>
              <a:t>This function is where the main code is placed and will run over and over again continuously until the Arduino is powered off. </a:t>
            </a:r>
          </a:p>
          <a:p>
            <a:r>
              <a:rPr lang="en-US" dirty="0"/>
              <a:t>This is where we tell the Arduino what to do in the sketch.</a:t>
            </a:r>
          </a:p>
          <a:p>
            <a:r>
              <a:rPr lang="en-US" dirty="0"/>
              <a:t>Example of </a:t>
            </a:r>
            <a:r>
              <a:rPr lang="en-US" dirty="0">
                <a:solidFill>
                  <a:srgbClr val="FF0000"/>
                </a:solidFill>
              </a:rPr>
              <a:t>LED blinking</a:t>
            </a:r>
            <a:endParaRPr lang="en-US" dirty="0"/>
          </a:p>
          <a:p>
            <a:r>
              <a:rPr lang="en-US" dirty="0"/>
              <a:t>The loop function simply blinks the LED on and off by using the </a:t>
            </a:r>
            <a:r>
              <a:rPr lang="en-US" dirty="0">
                <a:solidFill>
                  <a:srgbClr val="FF0000"/>
                </a:solidFill>
              </a:rPr>
              <a:t>delay(ms) </a:t>
            </a:r>
            <a:r>
              <a:rPr lang="en-US" dirty="0"/>
              <a:t>function.</a:t>
            </a:r>
          </a:p>
          <a:p>
            <a:r>
              <a:rPr lang="en-US" dirty="0"/>
              <a:t>Changing the </a:t>
            </a:r>
            <a:r>
              <a:rPr lang="en-US" dirty="0">
                <a:solidFill>
                  <a:schemeClr val="accent1"/>
                </a:solidFill>
              </a:rPr>
              <a:t>first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delay(1000) </a:t>
            </a:r>
            <a:r>
              <a:rPr lang="en-US" dirty="0">
                <a:solidFill>
                  <a:schemeClr val="accent1"/>
                </a:solidFill>
              </a:rPr>
              <a:t>effects how long </a:t>
            </a:r>
            <a:r>
              <a:rPr lang="en-US" dirty="0">
                <a:solidFill>
                  <a:srgbClr val="FF0000"/>
                </a:solidFill>
              </a:rPr>
              <a:t>the LED stays on</a:t>
            </a:r>
            <a:r>
              <a:rPr lang="en-US" dirty="0"/>
              <a:t>, whereas changing the </a:t>
            </a:r>
            <a:r>
              <a:rPr lang="en-US" dirty="0">
                <a:solidFill>
                  <a:schemeClr val="accent1"/>
                </a:solidFill>
              </a:rPr>
              <a:t>second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delay(1000)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effects how long the </a:t>
            </a:r>
            <a:r>
              <a:rPr lang="en-US" dirty="0">
                <a:solidFill>
                  <a:srgbClr val="FF0000"/>
                </a:solidFill>
              </a:rPr>
              <a:t>LED stays off</a:t>
            </a:r>
            <a:r>
              <a:rPr lang="en-US" dirty="0"/>
              <a:t>.</a:t>
            </a:r>
          </a:p>
          <a:p>
            <a:endParaRPr lang="en-US" dirty="0"/>
          </a:p>
          <a:p>
            <a:pPr marL="1882775"/>
            <a:r>
              <a:rPr lang="en-US" sz="2400" dirty="0"/>
              <a:t>digitalWrite(my_led, HIGH); // turn LED On</a:t>
            </a:r>
          </a:p>
          <a:p>
            <a:pPr marL="1882775"/>
            <a:r>
              <a:rPr lang="en-US" sz="2400" dirty="0"/>
              <a:t>delay(1000); 		          // wait 1 second</a:t>
            </a:r>
          </a:p>
          <a:p>
            <a:pPr marL="1882775"/>
            <a:r>
              <a:rPr lang="en-US" sz="2400" dirty="0"/>
              <a:t>digitalWrite(my_led, LOW); // turn LED Off</a:t>
            </a:r>
          </a:p>
          <a:p>
            <a:pPr marL="1882775"/>
            <a:r>
              <a:rPr lang="en-US" sz="2400" dirty="0"/>
              <a:t>delay(1000);                      // wait 1 second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000" y="209550"/>
            <a:ext cx="8610600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digitalWrite(my_led, HIGH); </a:t>
            </a:r>
          </a:p>
          <a:p>
            <a:r>
              <a:rPr lang="en-US" sz="2400" dirty="0"/>
              <a:t>this writes a HIGH value to the pin within the statement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FF0000"/>
                </a:solidFill>
              </a:rPr>
              <a:t>delay(1000); 	</a:t>
            </a:r>
            <a:r>
              <a:rPr lang="en-US" sz="2400" dirty="0"/>
              <a:t>	</a:t>
            </a:r>
          </a:p>
          <a:p>
            <a:r>
              <a:rPr lang="en-US" sz="2400" dirty="0"/>
              <a:t>this statement simply tells the Arduino to wait for 1000 milliseconds before carrying out the next statement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FF0000"/>
                </a:solidFill>
              </a:rPr>
              <a:t>digitalWrite(my_led, LOW); </a:t>
            </a:r>
          </a:p>
          <a:p>
            <a:r>
              <a:rPr lang="en-US" sz="2400" dirty="0"/>
              <a:t>this writes a LOW value to the pin within the statement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delay(1000); </a:t>
            </a:r>
            <a:r>
              <a:rPr lang="en-US" sz="2400" dirty="0"/>
              <a:t>wait 1 second                    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510"/>
            <a:ext cx="9144000" cy="5140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" name="Straight Connector 2"/>
          <p:cNvCxnSpPr>
            <a:stCxn id="5" idx="3"/>
            <a:endCxn id="4" idx="1"/>
          </p:cNvCxnSpPr>
          <p:nvPr/>
        </p:nvCxnSpPr>
        <p:spPr>
          <a:xfrm>
            <a:off x="2895600" y="2952750"/>
            <a:ext cx="2057400" cy="381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953000" y="2724150"/>
            <a:ext cx="21336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Code written in loop function</a:t>
            </a:r>
            <a:endParaRPr lang="en-US" dirty="0">
              <a:noFill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2495550"/>
            <a:ext cx="2667000" cy="91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510"/>
            <a:ext cx="9144000" cy="5140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" name="Straight Connector 2"/>
          <p:cNvCxnSpPr>
            <a:stCxn id="5" idx="2"/>
            <a:endCxn id="4" idx="1"/>
          </p:cNvCxnSpPr>
          <p:nvPr/>
        </p:nvCxnSpPr>
        <p:spPr>
          <a:xfrm>
            <a:off x="114300" y="514350"/>
            <a:ext cx="4686300" cy="4953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800600" y="742950"/>
            <a:ext cx="41910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Save and Compile the code</a:t>
            </a:r>
            <a:endParaRPr lang="en-US" dirty="0">
              <a:noFill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285750"/>
            <a:ext cx="2286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46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5181600" y="3028950"/>
            <a:ext cx="3432543" cy="3693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Code is compiled and has no errors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8" name="Picture 6"/>
          <p:cNvPicPr>
            <a:picLocks noChangeAspect="1" noChangeArrowheads="1"/>
          </p:cNvPicPr>
          <p:nvPr/>
        </p:nvPicPr>
        <p:blipFill>
          <a:blip r:embed="rId2" cstate="print">
            <a:lum/>
          </a:blip>
          <a:srcRect l="6879" t="3948" r="8847" b="3015"/>
          <a:stretch>
            <a:fillRect/>
          </a:stretch>
        </p:blipFill>
        <p:spPr bwMode="auto">
          <a:xfrm>
            <a:off x="1295400" y="742950"/>
            <a:ext cx="6629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228600" y="133350"/>
            <a:ext cx="2802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Components required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 cstate="print"/>
          <a:srcRect l="5424" t="20000" r="56610" b="21052"/>
          <a:stretch>
            <a:fillRect/>
          </a:stretch>
        </p:blipFill>
        <p:spPr bwMode="auto">
          <a:xfrm>
            <a:off x="533400" y="514350"/>
            <a:ext cx="2590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609600" y="3562350"/>
            <a:ext cx="2462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Breadboard connections 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361950"/>
            <a:ext cx="3048000" cy="2750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943600" y="3497818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LED 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9" name="Picture 3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0" y="0"/>
            <a:ext cx="914846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4572000" y="2114550"/>
            <a:ext cx="129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+ </a:t>
            </a:r>
            <a:r>
              <a:rPr lang="en-US" sz="4400" b="1" dirty="0"/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2400" y="133350"/>
            <a:ext cx="3877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Attach LED to the Breadboard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0" y="0"/>
            <a:ext cx="9144000" cy="514099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4648200" y="2038350"/>
            <a:ext cx="129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+ </a:t>
            </a:r>
            <a:r>
              <a:rPr lang="en-US" sz="4400" b="1" dirty="0"/>
              <a:t>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6400" y="0"/>
            <a:ext cx="7214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Connect one end of resistance to  positive terminal of LED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0" y="0"/>
            <a:ext cx="91484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096000" y="2343150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+ </a:t>
            </a:r>
            <a:r>
              <a:rPr lang="en-US" sz="3200" b="1" dirty="0"/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52550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13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86200" y="4552950"/>
            <a:ext cx="5405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Connect other end of resistance to  pin 13 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0" y="0"/>
            <a:ext cx="914846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6096000" y="2724150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+ </a:t>
            </a:r>
            <a:r>
              <a:rPr lang="en-US" sz="3200" b="1" dirty="0"/>
              <a:t>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52550"/>
            <a:ext cx="6367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13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" y="2571750"/>
            <a:ext cx="10102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GND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143000" y="4552950"/>
            <a:ext cx="6910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Connect negative terminal of LED to Ground(GND) pin 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0" y="0"/>
            <a:ext cx="914846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0" y="971550"/>
            <a:ext cx="1914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Plug in USB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1885950"/>
            <a:ext cx="1066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Green led indicates board is on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466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5867400" y="1352550"/>
            <a:ext cx="180671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Select COM port 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5791200" y="1428750"/>
            <a:ext cx="136928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Select board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464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5486400" y="1809750"/>
            <a:ext cx="336662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Upload the code to Arduino Board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0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>
            <a:stCxn id="6" idx="3"/>
            <a:endCxn id="5" idx="1"/>
          </p:cNvCxnSpPr>
          <p:nvPr/>
        </p:nvCxnSpPr>
        <p:spPr>
          <a:xfrm flipV="1">
            <a:off x="685800" y="3295650"/>
            <a:ext cx="4038600" cy="4572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724400" y="3028950"/>
            <a:ext cx="31242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Upload done, </a:t>
            </a:r>
            <a:r>
              <a:rPr lang="en-US" dirty="0" err="1"/>
              <a:t>Tx</a:t>
            </a:r>
            <a:r>
              <a:rPr lang="en-US" dirty="0"/>
              <a:t> and Rx LED’s on the board flashes  </a:t>
            </a:r>
            <a:endParaRPr lang="en-US" dirty="0">
              <a:noFill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638550"/>
            <a:ext cx="6858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2038350"/>
            <a:ext cx="6014980" cy="101566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6000" dirty="0"/>
              <a:t>Now lets make it…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819150"/>
            <a:ext cx="2990850" cy="330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381000" y="128885"/>
            <a:ext cx="21462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Traffic light </a:t>
            </a:r>
          </a:p>
        </p:txBody>
      </p:sp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4800" y="285750"/>
            <a:ext cx="4690102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410200" y="2876550"/>
            <a:ext cx="1845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Make connections 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150"/>
            <a:ext cx="54102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// Variable </a:t>
            </a:r>
            <a:r>
              <a:rPr lang="en-US" sz="2000" b="1" dirty="0" err="1"/>
              <a:t>declearation</a:t>
            </a:r>
            <a:endParaRPr lang="en-US" sz="2000" b="1" dirty="0"/>
          </a:p>
          <a:p>
            <a:endParaRPr lang="en-US" b="1" dirty="0"/>
          </a:p>
          <a:p>
            <a:r>
              <a:rPr lang="en-US" dirty="0"/>
              <a:t>int </a:t>
            </a:r>
            <a:r>
              <a:rPr lang="en-US" dirty="0" err="1"/>
              <a:t>ledDelay</a:t>
            </a:r>
            <a:r>
              <a:rPr lang="en-US" dirty="0"/>
              <a:t> = 10000;    // delay in between changes</a:t>
            </a:r>
          </a:p>
          <a:p>
            <a:r>
              <a:rPr lang="en-US" dirty="0"/>
              <a:t>int </a:t>
            </a:r>
            <a:r>
              <a:rPr lang="en-US" dirty="0" err="1"/>
              <a:t>redPin</a:t>
            </a:r>
            <a:r>
              <a:rPr lang="en-US" dirty="0"/>
              <a:t> = 10;</a:t>
            </a:r>
          </a:p>
          <a:p>
            <a:r>
              <a:rPr lang="en-US" dirty="0"/>
              <a:t>int </a:t>
            </a:r>
            <a:r>
              <a:rPr lang="en-US" dirty="0" err="1"/>
              <a:t>yellowPin</a:t>
            </a:r>
            <a:r>
              <a:rPr lang="en-US" dirty="0"/>
              <a:t> = 9;</a:t>
            </a:r>
          </a:p>
          <a:p>
            <a:r>
              <a:rPr lang="en-US" dirty="0"/>
              <a:t>int </a:t>
            </a:r>
            <a:r>
              <a:rPr lang="en-US" dirty="0" err="1"/>
              <a:t>greenPin</a:t>
            </a:r>
            <a:r>
              <a:rPr lang="en-US" dirty="0"/>
              <a:t> = 8;</a:t>
            </a:r>
          </a:p>
          <a:p>
            <a:endParaRPr lang="en-US" b="1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// Setup function</a:t>
            </a:r>
          </a:p>
          <a:p>
            <a:endParaRPr lang="en-US" b="1" dirty="0"/>
          </a:p>
          <a:p>
            <a:r>
              <a:rPr lang="en-US" dirty="0"/>
              <a:t>void setup() {</a:t>
            </a:r>
          </a:p>
          <a:p>
            <a:r>
              <a:rPr lang="en-US" dirty="0"/>
              <a:t>pinMode(</a:t>
            </a:r>
            <a:r>
              <a:rPr lang="en-US" dirty="0" err="1"/>
              <a:t>redPin</a:t>
            </a:r>
            <a:r>
              <a:rPr lang="en-US" dirty="0"/>
              <a:t>, OUTPUT);</a:t>
            </a:r>
          </a:p>
          <a:p>
            <a:r>
              <a:rPr lang="en-US" dirty="0"/>
              <a:t>pinMode(</a:t>
            </a:r>
            <a:r>
              <a:rPr lang="en-US" dirty="0" err="1"/>
              <a:t>yellowPin</a:t>
            </a:r>
            <a:r>
              <a:rPr lang="en-US" dirty="0"/>
              <a:t>, OUTPUT);</a:t>
            </a:r>
          </a:p>
          <a:p>
            <a:r>
              <a:rPr lang="en-US" dirty="0"/>
              <a:t>pinMode(</a:t>
            </a:r>
            <a:r>
              <a:rPr lang="en-US" dirty="0" err="1"/>
              <a:t>greenPin</a:t>
            </a:r>
            <a:r>
              <a:rPr lang="en-US" dirty="0"/>
              <a:t>, OUTPUT);</a:t>
            </a:r>
          </a:p>
          <a:p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466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77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//Loop function</a:t>
            </a:r>
          </a:p>
          <a:p>
            <a:endParaRPr lang="en-US" b="1" dirty="0"/>
          </a:p>
          <a:p>
            <a:r>
              <a:rPr lang="en-US" dirty="0"/>
              <a:t>void loop() {</a:t>
            </a:r>
          </a:p>
          <a:p>
            <a:r>
              <a:rPr lang="en-US" dirty="0"/>
              <a:t>digitalWrite(</a:t>
            </a:r>
            <a:r>
              <a:rPr lang="en-US" dirty="0" err="1"/>
              <a:t>greenPin</a:t>
            </a:r>
            <a:r>
              <a:rPr lang="en-US" dirty="0"/>
              <a:t>, LOW);           // turn green off</a:t>
            </a:r>
          </a:p>
          <a:p>
            <a:r>
              <a:rPr lang="en-US" dirty="0"/>
              <a:t>digitalWrite(</a:t>
            </a:r>
            <a:r>
              <a:rPr lang="en-US" dirty="0" err="1"/>
              <a:t>redPin</a:t>
            </a:r>
            <a:r>
              <a:rPr lang="en-US" dirty="0"/>
              <a:t>, HIGH);               // turn red on</a:t>
            </a:r>
          </a:p>
          <a:p>
            <a:r>
              <a:rPr lang="en-US" dirty="0"/>
              <a:t>digitalWrite(</a:t>
            </a:r>
            <a:r>
              <a:rPr lang="en-US" dirty="0" err="1"/>
              <a:t>yellowPin</a:t>
            </a:r>
            <a:r>
              <a:rPr lang="en-US" dirty="0"/>
              <a:t>, LOW);          // turn yellow off</a:t>
            </a:r>
          </a:p>
          <a:p>
            <a:r>
              <a:rPr lang="en-US" dirty="0"/>
              <a:t>delay(</a:t>
            </a:r>
            <a:r>
              <a:rPr lang="en-US" dirty="0" err="1"/>
              <a:t>ledDelay</a:t>
            </a:r>
            <a:r>
              <a:rPr lang="en-US" dirty="0"/>
              <a:t>);                              // wait 10 seconds</a:t>
            </a:r>
          </a:p>
          <a:p>
            <a:r>
              <a:rPr lang="en-US" dirty="0"/>
              <a:t>digitalWrite(</a:t>
            </a:r>
            <a:r>
              <a:rPr lang="en-US" dirty="0" err="1"/>
              <a:t>greenPin</a:t>
            </a:r>
            <a:r>
              <a:rPr lang="en-US" dirty="0"/>
              <a:t>, LOW);           // turn green off</a:t>
            </a:r>
          </a:p>
          <a:p>
            <a:r>
              <a:rPr lang="en-US" dirty="0"/>
              <a:t>digitalWrite(</a:t>
            </a:r>
            <a:r>
              <a:rPr lang="en-US" dirty="0" err="1"/>
              <a:t>redPin</a:t>
            </a:r>
            <a:r>
              <a:rPr lang="en-US" dirty="0"/>
              <a:t>, LOW);               // turn red off</a:t>
            </a:r>
          </a:p>
          <a:p>
            <a:r>
              <a:rPr lang="en-US" dirty="0"/>
              <a:t>digitalWrite(</a:t>
            </a:r>
            <a:r>
              <a:rPr lang="en-US" dirty="0" err="1"/>
              <a:t>yellowPin</a:t>
            </a:r>
            <a:r>
              <a:rPr lang="en-US" dirty="0"/>
              <a:t>, HIGH);          // turn yellow on</a:t>
            </a:r>
          </a:p>
          <a:p>
            <a:r>
              <a:rPr lang="en-US" dirty="0"/>
              <a:t>delay(</a:t>
            </a:r>
            <a:r>
              <a:rPr lang="en-US" dirty="0" err="1"/>
              <a:t>ledDelay</a:t>
            </a:r>
            <a:r>
              <a:rPr lang="en-US" dirty="0"/>
              <a:t>);                                   // wait 10 seconds</a:t>
            </a:r>
          </a:p>
          <a:p>
            <a:r>
              <a:rPr lang="en-US" dirty="0"/>
              <a:t>digitalWrite(</a:t>
            </a:r>
            <a:r>
              <a:rPr lang="en-US" dirty="0" err="1"/>
              <a:t>greenPin</a:t>
            </a:r>
            <a:r>
              <a:rPr lang="en-US" dirty="0"/>
              <a:t>, HIGH);           // turn green on</a:t>
            </a:r>
          </a:p>
          <a:p>
            <a:r>
              <a:rPr lang="en-US" dirty="0"/>
              <a:t>digitalWrite(</a:t>
            </a:r>
            <a:r>
              <a:rPr lang="en-US" dirty="0" err="1"/>
              <a:t>redPin</a:t>
            </a:r>
            <a:r>
              <a:rPr lang="en-US" dirty="0"/>
              <a:t>, LOW);               // turn red off</a:t>
            </a:r>
          </a:p>
          <a:p>
            <a:r>
              <a:rPr lang="en-US" dirty="0"/>
              <a:t>digitalWrite(</a:t>
            </a:r>
            <a:r>
              <a:rPr lang="en-US" dirty="0" err="1"/>
              <a:t>yellowPin</a:t>
            </a:r>
            <a:r>
              <a:rPr lang="en-US" dirty="0"/>
              <a:t>, LOW);          // turn yellow off</a:t>
            </a:r>
          </a:p>
          <a:p>
            <a:r>
              <a:rPr lang="en-US" dirty="0"/>
              <a:t>delay(</a:t>
            </a:r>
            <a:r>
              <a:rPr lang="en-US" dirty="0" err="1"/>
              <a:t>ledDelay</a:t>
            </a:r>
            <a:r>
              <a:rPr lang="en-US" dirty="0"/>
              <a:t>);                             // wait 10 seconds</a:t>
            </a:r>
          </a:p>
          <a:p>
            <a:r>
              <a:rPr lang="en-US" dirty="0"/>
              <a:t>                    // now our loop repeats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464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5943600" y="895350"/>
            <a:ext cx="274004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Save and compile the code 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 descr="E:\NEERAJ\STUDY MATTER\MY ELECTRONICS\GEHU\PROJECT\DOCUMENTS\ARDUINO\DATA\TRAFFIC_LIGHT\IMG_20181226_141927.jpg"/>
          <p:cNvPicPr>
            <a:picLocks noChangeAspect="1" noChangeArrowheads="1"/>
          </p:cNvPicPr>
          <p:nvPr/>
        </p:nvPicPr>
        <p:blipFill>
          <a:blip r:embed="rId2" cstate="print">
            <a:lum/>
          </a:blip>
          <a:srcRect t="3922" b="13725"/>
          <a:stretch>
            <a:fillRect/>
          </a:stretch>
        </p:blipFill>
        <p:spPr bwMode="auto">
          <a:xfrm>
            <a:off x="2133600" y="0"/>
            <a:ext cx="4684259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 descr="E:\NEERAJ\STUDY MATTER\MY ELECTRONICS\GEHU\PROJECT\DOCUMENTS\ARDUINO\DATA\TRAFFIC_LIGHT\IMG_20181226_14243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 descr="E:\NEERAJ\STUDY MATTER\MY ELECTRONICS\GEHU\PROJECT\DOCUMENTS\ARDUINO\DATA\TRAFFIC_LIGHT\IMG_20181226_14245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1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2" descr="E:\NEERAJ\STUDY MATTER\MY ELECTRONICS\GEHU\PROJECT\DOCUMENTS\ARDUINO\DATA\TRAFFIC_LIGHT\IMG_20181226_14271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1" name="Picture 3" descr="E:\NEERAJ\STUDY MATTER\MY ELECTRONICS\GEHU\PROJECT\DOCUMENTS\ARDUINO\DATA\TRAFFIC_LIGHT\IMG_20181226_1428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2" descr="E:\NEERAJ\STUDY MATTER\MY ELECTRONICS\GEHU\PROJECT\DOCUMENTS\ARDUINO\DATA\TRAFFIC_LIGHT\IMG_20181226_14282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 descr="E:\NEERAJ\STUDY MATTER\MY ELECTRONICS\GEHU\PROJECT\DOCUMENTS\ARDUINO\DATA\TRAFFIC_LIGHT\IMG_20181226_14354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2000251" y="-2000251"/>
            <a:ext cx="5143500" cy="9144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2" descr="E:\NEERAJ\STUDY MATTER\MY ELECTRONICS\GEHU\PROJECT\DOCUMENTS\ARDUINO\DATA\TRAFFIC_LIGHT\IMG_20181226_14354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2000249" y="-2000249"/>
            <a:ext cx="5143500" cy="914399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 descr="E:\NEERAJ\STUDY MATTER\MY ELECTRONICS\GEHU\PROJECT\DOCUMENTS\ARDUINO\DATA\TRAFFIC_LIGHT\IMG_20181226_14355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2000249" y="-2000249"/>
            <a:ext cx="5143500" cy="914399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2038350"/>
            <a:ext cx="6014980" cy="101566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6000" dirty="0"/>
              <a:t>Now lets make it…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358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LED chase effect </a:t>
            </a:r>
          </a:p>
        </p:txBody>
      </p:sp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666750"/>
            <a:ext cx="4543425" cy="329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39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276350"/>
            <a:ext cx="3876675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943600" y="4095750"/>
            <a:ext cx="131638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Connections 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150"/>
            <a:ext cx="9144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// Variable </a:t>
            </a:r>
            <a:r>
              <a:rPr lang="en-US" sz="2000" b="1" dirty="0" err="1"/>
              <a:t>declearation</a:t>
            </a:r>
            <a:endParaRPr lang="en-US" sz="2000" b="1" dirty="0"/>
          </a:p>
          <a:p>
            <a:endParaRPr lang="en-US" b="1" dirty="0"/>
          </a:p>
          <a:p>
            <a:r>
              <a:rPr lang="en-US" dirty="0"/>
              <a:t>byte </a:t>
            </a:r>
            <a:r>
              <a:rPr lang="en-US" dirty="0" err="1"/>
              <a:t>ledPin</a:t>
            </a:r>
            <a:r>
              <a:rPr lang="en-US" dirty="0"/>
              <a:t>[] = {4, 5, 6, 7, 8, 9, 10, 11, 12, 13}; // Create array for LED pins</a:t>
            </a:r>
          </a:p>
          <a:p>
            <a:r>
              <a:rPr lang="en-US" dirty="0"/>
              <a:t>int </a:t>
            </a:r>
            <a:r>
              <a:rPr lang="en-US" dirty="0" err="1"/>
              <a:t>ledDelay</a:t>
            </a:r>
            <a:r>
              <a:rPr lang="en-US" dirty="0"/>
              <a:t>(65);                                              // delay between changes</a:t>
            </a:r>
          </a:p>
          <a:p>
            <a:r>
              <a:rPr lang="en-US" dirty="0"/>
              <a:t>int direction = 1;</a:t>
            </a:r>
          </a:p>
          <a:p>
            <a:r>
              <a:rPr lang="en-US" dirty="0"/>
              <a:t>int </a:t>
            </a:r>
            <a:r>
              <a:rPr lang="en-US" dirty="0" err="1"/>
              <a:t>currentLED</a:t>
            </a:r>
            <a:r>
              <a:rPr lang="en-US" dirty="0"/>
              <a:t> = 0;</a:t>
            </a:r>
          </a:p>
          <a:p>
            <a:r>
              <a:rPr lang="en-US" dirty="0"/>
              <a:t>unsigned long </a:t>
            </a:r>
            <a:r>
              <a:rPr lang="en-US" dirty="0" err="1"/>
              <a:t>changeTime</a:t>
            </a:r>
            <a:r>
              <a:rPr lang="en-US" dirty="0"/>
              <a:t>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" y="2343150"/>
            <a:ext cx="883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array is a collection of variables that are accessed using an index number</a:t>
            </a:r>
          </a:p>
          <a:p>
            <a:r>
              <a:rPr lang="en-US" dirty="0"/>
              <a:t>byte </a:t>
            </a:r>
            <a:r>
              <a:rPr lang="en-US" dirty="0" err="1"/>
              <a:t>ledPin</a:t>
            </a:r>
            <a:r>
              <a:rPr lang="en-US" dirty="0"/>
              <a:t>[] = {4, 5, 6, 7, 8, 9, 10, 11, 12, 13};</a:t>
            </a:r>
          </a:p>
          <a:p>
            <a:r>
              <a:rPr lang="en-US" dirty="0"/>
              <a:t>It has 10 values (</a:t>
            </a:r>
            <a:r>
              <a:rPr lang="en-US" dirty="0">
                <a:solidFill>
                  <a:srgbClr val="FF0000"/>
                </a:solidFill>
              </a:rPr>
              <a:t>Digital Pins 4 through to 13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8466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150"/>
            <a:ext cx="914400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// Setup function</a:t>
            </a:r>
          </a:p>
          <a:p>
            <a:endParaRPr lang="en-US" b="1" dirty="0"/>
          </a:p>
          <a:p>
            <a:r>
              <a:rPr lang="en-US" dirty="0"/>
              <a:t>void setup() {</a:t>
            </a:r>
          </a:p>
          <a:p>
            <a:r>
              <a:rPr lang="en-US" dirty="0"/>
              <a:t>	         for (</a:t>
            </a:r>
            <a:r>
              <a:rPr lang="en-US" dirty="0" err="1"/>
              <a:t>int</a:t>
            </a:r>
            <a:r>
              <a:rPr lang="en-US" dirty="0"/>
              <a:t> x=0; x&lt;10; x++) </a:t>
            </a:r>
          </a:p>
          <a:p>
            <a:r>
              <a:rPr lang="en-US" dirty="0"/>
              <a:t>                               {  </a:t>
            </a:r>
            <a:r>
              <a:rPr lang="en-US" dirty="0" err="1"/>
              <a:t>pinMode</a:t>
            </a:r>
            <a:r>
              <a:rPr lang="en-US" dirty="0"/>
              <a:t>(</a:t>
            </a:r>
            <a:r>
              <a:rPr lang="en-US" dirty="0" err="1"/>
              <a:t>ledPin</a:t>
            </a:r>
            <a:r>
              <a:rPr lang="en-US" dirty="0"/>
              <a:t>[x], OUTPUT);    // set all pins to output </a:t>
            </a:r>
          </a:p>
          <a:p>
            <a:r>
              <a:rPr lang="en-US" dirty="0"/>
              <a:t>                                    }</a:t>
            </a:r>
          </a:p>
          <a:p>
            <a:r>
              <a:rPr lang="en-US" dirty="0"/>
              <a:t>	         </a:t>
            </a:r>
            <a:r>
              <a:rPr lang="en-US" dirty="0" err="1"/>
              <a:t>changeTime</a:t>
            </a:r>
            <a:r>
              <a:rPr lang="en-US" dirty="0"/>
              <a:t> = </a:t>
            </a:r>
            <a:r>
              <a:rPr lang="en-US" dirty="0" err="1"/>
              <a:t>millis</a:t>
            </a:r>
            <a:r>
              <a:rPr lang="en-US" dirty="0"/>
              <a:t>();</a:t>
            </a:r>
          </a:p>
          <a:p>
            <a:r>
              <a:rPr lang="en-US" dirty="0"/>
              <a:t>	    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" y="2343150"/>
            <a:ext cx="883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array is a collection of variables that are accessed using an index number</a:t>
            </a:r>
          </a:p>
          <a:p>
            <a:r>
              <a:rPr lang="en-US" dirty="0"/>
              <a:t>byte </a:t>
            </a:r>
            <a:r>
              <a:rPr lang="en-US" dirty="0" err="1"/>
              <a:t>ledPin</a:t>
            </a:r>
            <a:r>
              <a:rPr lang="en-US" dirty="0"/>
              <a:t>[] = {4, 5, 6, 7, 8, 9, 10, 11, 12, 13};</a:t>
            </a:r>
          </a:p>
          <a:p>
            <a:r>
              <a:rPr lang="en-US" dirty="0"/>
              <a:t>It has 10 values (</a:t>
            </a:r>
            <a:r>
              <a:rPr lang="en-US" dirty="0">
                <a:solidFill>
                  <a:srgbClr val="FF0000"/>
                </a:solidFill>
              </a:rPr>
              <a:t>Digital Pins 4 through to 13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0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04800" y="971550"/>
            <a:ext cx="16002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4800" y="2952750"/>
            <a:ext cx="16002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150"/>
            <a:ext cx="9144000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// Loop function</a:t>
            </a:r>
            <a:endParaRPr lang="en-US" b="1" dirty="0"/>
          </a:p>
          <a:p>
            <a:r>
              <a:rPr lang="en-US" dirty="0"/>
              <a:t>void loop() {</a:t>
            </a:r>
          </a:p>
          <a:p>
            <a:r>
              <a:rPr lang="en-US" dirty="0"/>
              <a:t>if ((</a:t>
            </a:r>
            <a:r>
              <a:rPr lang="en-US" dirty="0" err="1"/>
              <a:t>millis</a:t>
            </a:r>
            <a:r>
              <a:rPr lang="en-US" dirty="0"/>
              <a:t>() - </a:t>
            </a:r>
            <a:r>
              <a:rPr lang="en-US" dirty="0" err="1"/>
              <a:t>changeTime</a:t>
            </a:r>
            <a:r>
              <a:rPr lang="en-US" dirty="0"/>
              <a:t>) &gt; </a:t>
            </a:r>
            <a:r>
              <a:rPr lang="en-US" dirty="0" err="1"/>
              <a:t>ledDelay</a:t>
            </a:r>
            <a:r>
              <a:rPr lang="en-US" dirty="0"/>
              <a:t>) {      // if it has been </a:t>
            </a:r>
            <a:r>
              <a:rPr lang="en-US" dirty="0" err="1"/>
              <a:t>ledDelay</a:t>
            </a:r>
            <a:r>
              <a:rPr lang="en-US" dirty="0"/>
              <a:t> ms since</a:t>
            </a:r>
          </a:p>
          <a:p>
            <a:r>
              <a:rPr lang="en-US" dirty="0"/>
              <a:t>last change</a:t>
            </a:r>
          </a:p>
          <a:p>
            <a:r>
              <a:rPr lang="en-US" dirty="0" err="1"/>
              <a:t>changeLED</a:t>
            </a:r>
            <a:r>
              <a:rPr lang="en-US" dirty="0"/>
              <a:t>();</a:t>
            </a:r>
          </a:p>
          <a:p>
            <a:r>
              <a:rPr lang="en-US" dirty="0" err="1"/>
              <a:t>changeTime</a:t>
            </a:r>
            <a:r>
              <a:rPr lang="en-US" dirty="0"/>
              <a:t> = </a:t>
            </a:r>
            <a:r>
              <a:rPr lang="en-US" dirty="0" err="1"/>
              <a:t>millis</a:t>
            </a:r>
            <a:r>
              <a:rPr lang="en-US" dirty="0"/>
              <a:t>();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void </a:t>
            </a:r>
            <a:r>
              <a:rPr lang="en-US" dirty="0" err="1"/>
              <a:t>changeLED</a:t>
            </a:r>
            <a:r>
              <a:rPr lang="en-US" dirty="0"/>
              <a:t>() {</a:t>
            </a:r>
          </a:p>
          <a:p>
            <a:r>
              <a:rPr lang="en-US" dirty="0"/>
              <a:t>for (</a:t>
            </a:r>
            <a:r>
              <a:rPr lang="en-US" dirty="0" err="1"/>
              <a:t>int</a:t>
            </a:r>
            <a:r>
              <a:rPr lang="en-US" dirty="0"/>
              <a:t> x=0; x&lt;10; x++) {                       // turn off all LED's</a:t>
            </a:r>
          </a:p>
          <a:p>
            <a:r>
              <a:rPr lang="en-US" dirty="0" err="1"/>
              <a:t>digitalWrite</a:t>
            </a:r>
            <a:r>
              <a:rPr lang="en-US" dirty="0"/>
              <a:t>(</a:t>
            </a:r>
            <a:r>
              <a:rPr lang="en-US" dirty="0" err="1"/>
              <a:t>ledPin</a:t>
            </a:r>
            <a:r>
              <a:rPr lang="en-US" dirty="0"/>
              <a:t>[x], LOW);</a:t>
            </a:r>
          </a:p>
          <a:p>
            <a:r>
              <a:rPr lang="en-US" dirty="0"/>
              <a:t>}</a:t>
            </a:r>
          </a:p>
          <a:p>
            <a:r>
              <a:rPr lang="en-US" dirty="0" err="1"/>
              <a:t>digitalWrite</a:t>
            </a:r>
            <a:r>
              <a:rPr lang="en-US" dirty="0"/>
              <a:t>(</a:t>
            </a:r>
            <a:r>
              <a:rPr lang="en-US" dirty="0" err="1"/>
              <a:t>ledPin</a:t>
            </a:r>
            <a:r>
              <a:rPr lang="en-US" dirty="0"/>
              <a:t>[</a:t>
            </a:r>
            <a:r>
              <a:rPr lang="en-US" dirty="0" err="1"/>
              <a:t>currentLED</a:t>
            </a:r>
            <a:r>
              <a:rPr lang="en-US" dirty="0"/>
              <a:t>], HIGH);      // turn on the current LED</a:t>
            </a:r>
          </a:p>
          <a:p>
            <a:r>
              <a:rPr lang="en-US" dirty="0" err="1"/>
              <a:t>currentLED</a:t>
            </a:r>
            <a:r>
              <a:rPr lang="en-US" dirty="0"/>
              <a:t> += direction;                          // increment by the direction value</a:t>
            </a:r>
          </a:p>
          <a:p>
            <a:r>
              <a:rPr lang="en-US" dirty="0"/>
              <a:t>                                                             // change direction if we reach the end</a:t>
            </a:r>
          </a:p>
          <a:p>
            <a:r>
              <a:rPr lang="en-US" dirty="0"/>
              <a:t>if (</a:t>
            </a:r>
            <a:r>
              <a:rPr lang="en-US" dirty="0" err="1"/>
              <a:t>currentLED</a:t>
            </a:r>
            <a:r>
              <a:rPr lang="en-US" dirty="0"/>
              <a:t> == 9) {direction = -1;}</a:t>
            </a:r>
          </a:p>
          <a:p>
            <a:r>
              <a:rPr lang="en-US" dirty="0"/>
              <a:t>if (</a:t>
            </a:r>
            <a:r>
              <a:rPr lang="en-US" dirty="0" err="1"/>
              <a:t>currentLED</a:t>
            </a:r>
            <a:r>
              <a:rPr lang="en-US" dirty="0"/>
              <a:t> == 0) {direction = 1;}</a:t>
            </a:r>
          </a:p>
          <a:p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846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5943600" y="895350"/>
            <a:ext cx="274004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Save and compile the code 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62400" y="1581150"/>
            <a:ext cx="2232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HARDWARE   IMAGES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2038350"/>
            <a:ext cx="6861366" cy="101566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6000" dirty="0"/>
              <a:t>Now lets make it…    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358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LED Dimming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095750"/>
            <a:ext cx="131638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Connections 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descreen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WidescreenPresentation</Template>
  <TotalTime>0</TotalTime>
  <Words>1776</Words>
  <Application>Microsoft Office PowerPoint</Application>
  <PresentationFormat>On-screen Show (16:9)</PresentationFormat>
  <Paragraphs>262</Paragraphs>
  <Slides>108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108</vt:i4>
      </vt:variant>
    </vt:vector>
  </HeadingPairs>
  <TitlesOfParts>
    <vt:vector size="114" baseType="lpstr">
      <vt:lpstr>Arial</vt:lpstr>
      <vt:lpstr>Calibri</vt:lpstr>
      <vt:lpstr>Tw Cen MT</vt:lpstr>
      <vt:lpstr>Wingdings</vt:lpstr>
      <vt:lpstr>Wingdings 2</vt:lpstr>
      <vt:lpstr>WidescreenPresentation</vt:lpstr>
      <vt:lpstr>Beginning Arduino uno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Amrita Pargaien</cp:lastModifiedBy>
  <cp:revision>2</cp:revision>
  <dcterms:created xsi:type="dcterms:W3CDTF">2018-12-25T03:57:49Z</dcterms:created>
  <dcterms:modified xsi:type="dcterms:W3CDTF">2025-05-09T16:29:21Z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